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 this is enfold-web, a web scraping and data-preservation system built for the Enfold India legal research team. It automates bulk extraction of court case data from India's national eCourts system, which has no native export. The system is being productionized for JP Morgan on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value proposition: eCourts only exposes data through a per-case mobile interface — there is no bulk export. Legal researchers were copying this by hand. enfold-web queues a scrape job, fans out across the court hierarchy, and produces a clean CSV. Note the data sensitivity — cases include POCSO matters naming minors, so access control is critical.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components run in one Docker Compose stack. The web container (Django) takes user requests, creates a ScrapeTask row in Postgres, and enqueues the job via Redis. The Celery worker does the heavy lifting — descending the court hierarchy and calling eCourts via an AES-encrypted client. Results are written to a shared /data volume as JSON files. When the user downloads, Django reads the JSON and generates the CSV. Order PDFs are never stored — they're fetched on demand using a stable document reference plus a freshly minted auth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migration to AWS is straightforward: move the /data volume to S3, move Postgres to RDS for managed backups, containerize the app on EC2, and use Secrets Manager instead of .env files. We keep Postgres (not DynamoDB) because the app is Django-relational and the database is tiny — it only holds ScrapeTask metadata and users. All-AWS means minimal integration overhead and shared infrastructure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cost is approximately ₹4,000 per month, or ~$40–41 USD. The biggest line item is the EC2 instance which runs both the scraper and the UI. Note that PDF storage is effectively zero — because we proxy PDFs on demand rather than downloading and storing them. EventBridge, Secrets Manager, and ACM SSL are free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P0 items must be done before handover: rotate the committed SECRET_KEY, set up backups, and lock down exposed ports. P1: the most dangerous silent failure is the AES-constant risk — if eCourts updates their app, every scrape returns empty with no error. A canary calling get_states() on a schedule and alerting if it returns empty is the mitigation. P2: moving to S3 for bulk storage and setting up CI with a test suite are the main productionization tasks. The PDF proxy is already done and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560"/>
        </a:solidFill>
      </p:bgPr>
    </p:bg>
    <p:spTree>
      <p:nvGrpSpPr>
        <p:cNvPr id="1" name=""/>
        <p:cNvGrpSpPr/>
        <p:nvPr/>
      </p:nvGrpSpPr>
      <p:grpSpPr>
        <a:xfrm>
          <a:off x="0" y="0"/>
          <a:ext cx="0" cy="0"/>
          <a:chOff x="0" y="0"/>
          <a:chExt cx="0" cy="0"/>
        </a:xfrm>
      </p:grpSpPr>
      <p:sp>
        <p:nvSpPr>
          <p:cNvPr id="2" name="Text 0"/>
          <p:cNvSpPr/>
          <p:nvPr/>
        </p:nvSpPr>
        <p:spPr>
          <a:xfrm>
            <a:off x="548640" y="594360"/>
            <a:ext cx="8046720" cy="118872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enfold-web</a:t>
            </a:r>
            <a:endParaRPr lang="en-US" sz="5400" dirty="0"/>
          </a:p>
        </p:txBody>
      </p:sp>
      <p:sp>
        <p:nvSpPr>
          <p:cNvPr id="3" name="Text 1"/>
          <p:cNvSpPr/>
          <p:nvPr/>
        </p:nvSpPr>
        <p:spPr>
          <a:xfrm>
            <a:off x="548640" y="1828800"/>
            <a:ext cx="8046720" cy="594360"/>
          </a:xfrm>
          <a:prstGeom prst="rect">
            <a:avLst/>
          </a:prstGeom>
          <a:noFill/>
          <a:ln/>
        </p:spPr>
        <p:txBody>
          <a:bodyPr wrap="square" rtlCol="0" anchor="ctr"/>
          <a:lstStyle/>
          <a:p>
            <a:pPr indent="0" marL="0">
              <a:buNone/>
            </a:pPr>
            <a:r>
              <a:rPr lang="en-US" sz="2200" dirty="0">
                <a:solidFill>
                  <a:srgbClr val="93C5FD"/>
                </a:solidFill>
                <a:latin typeface="Calibri" pitchFamily="34" charset="0"/>
                <a:ea typeface="Calibri" pitchFamily="34" charset="-122"/>
                <a:cs typeface="Calibri" pitchFamily="34" charset="-120"/>
              </a:rPr>
              <a:t>eCourts Legal Research Platform</a:t>
            </a:r>
            <a:endParaRPr lang="en-US" sz="2200" dirty="0"/>
          </a:p>
        </p:txBody>
      </p:sp>
      <p:sp>
        <p:nvSpPr>
          <p:cNvPr id="4" name="Text 2"/>
          <p:cNvSpPr/>
          <p:nvPr/>
        </p:nvSpPr>
        <p:spPr>
          <a:xfrm>
            <a:off x="548640" y="2514600"/>
            <a:ext cx="8046720" cy="384048"/>
          </a:xfrm>
          <a:prstGeom prst="rect">
            <a:avLst/>
          </a:prstGeom>
          <a:noFill/>
          <a:ln/>
        </p:spPr>
        <p:txBody>
          <a:bodyPr wrap="square"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Bulk court-case scraping · Structured CSV export · Durable PDF proxy · AWS-ready</a:t>
            </a:r>
            <a:endParaRPr lang="en-US" sz="1300" dirty="0"/>
          </a:p>
        </p:txBody>
      </p:sp>
      <p:sp>
        <p:nvSpPr>
          <p:cNvPr id="5" name="Text 3"/>
          <p:cNvSpPr/>
          <p:nvPr/>
        </p:nvSpPr>
        <p:spPr>
          <a:xfrm>
            <a:off x="548640" y="3337560"/>
            <a:ext cx="1920240" cy="640080"/>
          </a:xfrm>
          <a:prstGeom prst="rect">
            <a:avLst/>
          </a:prstGeom>
          <a:noFill/>
          <a:ln/>
        </p:spPr>
        <p:txBody>
          <a:bodyPr wrap="square" rtlCol="0" anchor="ctr"/>
          <a:lstStyle/>
          <a:p>
            <a:pPr algn="ctr" indent="0" marL="0">
              <a:buNone/>
            </a:pPr>
            <a:r>
              <a:rPr lang="en-US" sz="3400" b="1" dirty="0">
                <a:solidFill>
                  <a:srgbClr val="0EA5E9"/>
                </a:solidFill>
                <a:latin typeface="Calibri" pitchFamily="34" charset="0"/>
                <a:ea typeface="Calibri" pitchFamily="34" charset="-122"/>
                <a:cs typeface="Calibri" pitchFamily="34" charset="-120"/>
              </a:rPr>
              <a:t>7</a:t>
            </a:r>
            <a:endParaRPr lang="en-US" sz="3400" dirty="0"/>
          </a:p>
        </p:txBody>
      </p:sp>
      <p:sp>
        <p:nvSpPr>
          <p:cNvPr id="6" name="Text 4"/>
          <p:cNvSpPr/>
          <p:nvPr/>
        </p:nvSpPr>
        <p:spPr>
          <a:xfrm>
            <a:off x="548640" y="4023360"/>
            <a:ext cx="1920240" cy="347472"/>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Scrape hierarchy levels</a:t>
            </a:r>
            <a:endParaRPr lang="en-US" sz="1100" dirty="0"/>
          </a:p>
        </p:txBody>
      </p:sp>
      <p:sp>
        <p:nvSpPr>
          <p:cNvPr id="7" name="Text 5"/>
          <p:cNvSpPr/>
          <p:nvPr/>
        </p:nvSpPr>
        <p:spPr>
          <a:xfrm>
            <a:off x="2651760" y="3337560"/>
            <a:ext cx="1920240" cy="640080"/>
          </a:xfrm>
          <a:prstGeom prst="rect">
            <a:avLst/>
          </a:prstGeom>
          <a:noFill/>
          <a:ln/>
        </p:spPr>
        <p:txBody>
          <a:bodyPr wrap="square" rtlCol="0" anchor="ctr"/>
          <a:lstStyle/>
          <a:p>
            <a:pPr algn="ctr" indent="0" marL="0">
              <a:buNone/>
            </a:pPr>
            <a:r>
              <a:rPr lang="en-US" sz="3400" b="1" dirty="0">
                <a:solidFill>
                  <a:srgbClr val="0EA5E9"/>
                </a:solidFill>
                <a:latin typeface="Calibri" pitchFamily="34" charset="0"/>
                <a:ea typeface="Calibri" pitchFamily="34" charset="-122"/>
                <a:cs typeface="Calibri" pitchFamily="34" charset="-120"/>
              </a:rPr>
              <a:t>8</a:t>
            </a:r>
            <a:endParaRPr lang="en-US" sz="3400" dirty="0"/>
          </a:p>
        </p:txBody>
      </p:sp>
      <p:sp>
        <p:nvSpPr>
          <p:cNvPr id="8" name="Text 6"/>
          <p:cNvSpPr/>
          <p:nvPr/>
        </p:nvSpPr>
        <p:spPr>
          <a:xfrm>
            <a:off x="2651760" y="4023360"/>
            <a:ext cx="1920240" cy="347472"/>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Docker containers</a:t>
            </a:r>
            <a:endParaRPr lang="en-US" sz="1100" dirty="0"/>
          </a:p>
        </p:txBody>
      </p:sp>
      <p:sp>
        <p:nvSpPr>
          <p:cNvPr id="9" name="Text 7"/>
          <p:cNvSpPr/>
          <p:nvPr/>
        </p:nvSpPr>
        <p:spPr>
          <a:xfrm>
            <a:off x="4754880" y="3337560"/>
            <a:ext cx="1920240" cy="640080"/>
          </a:xfrm>
          <a:prstGeom prst="rect">
            <a:avLst/>
          </a:prstGeom>
          <a:noFill/>
          <a:ln/>
        </p:spPr>
        <p:txBody>
          <a:bodyPr wrap="square" rtlCol="0" anchor="ctr"/>
          <a:lstStyle/>
          <a:p>
            <a:pPr algn="ctr" indent="0" marL="0">
              <a:buNone/>
            </a:pPr>
            <a:r>
              <a:rPr lang="en-US" sz="3400" b="1" dirty="0">
                <a:solidFill>
                  <a:srgbClr val="0EA5E9"/>
                </a:solidFill>
                <a:latin typeface="Calibri" pitchFamily="34" charset="0"/>
                <a:ea typeface="Calibri" pitchFamily="34" charset="-122"/>
                <a:cs typeface="Calibri" pitchFamily="34" charset="-120"/>
              </a:rPr>
              <a:t>~0</a:t>
            </a:r>
            <a:endParaRPr lang="en-US" sz="3400" dirty="0"/>
          </a:p>
        </p:txBody>
      </p:sp>
      <p:sp>
        <p:nvSpPr>
          <p:cNvPr id="10" name="Text 8"/>
          <p:cNvSpPr/>
          <p:nvPr/>
        </p:nvSpPr>
        <p:spPr>
          <a:xfrm>
            <a:off x="4754880" y="4023360"/>
            <a:ext cx="1920240" cy="347472"/>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PDF storage needed</a:t>
            </a:r>
            <a:endParaRPr lang="en-US" sz="1100" dirty="0"/>
          </a:p>
        </p:txBody>
      </p:sp>
      <p:sp>
        <p:nvSpPr>
          <p:cNvPr id="11" name="Text 9"/>
          <p:cNvSpPr/>
          <p:nvPr/>
        </p:nvSpPr>
        <p:spPr>
          <a:xfrm>
            <a:off x="6858000" y="3337560"/>
            <a:ext cx="1920240" cy="640080"/>
          </a:xfrm>
          <a:prstGeom prst="rect">
            <a:avLst/>
          </a:prstGeom>
          <a:noFill/>
          <a:ln/>
        </p:spPr>
        <p:txBody>
          <a:bodyPr wrap="square" rtlCol="0" anchor="ctr"/>
          <a:lstStyle/>
          <a:p>
            <a:pPr algn="ctr" indent="0" marL="0">
              <a:buNone/>
            </a:pPr>
            <a:r>
              <a:rPr lang="en-US" sz="3400" b="1" dirty="0">
                <a:solidFill>
                  <a:srgbClr val="0EA5E9"/>
                </a:solidFill>
                <a:latin typeface="Calibri" pitchFamily="34" charset="0"/>
                <a:ea typeface="Calibri" pitchFamily="34" charset="-122"/>
                <a:cs typeface="Calibri" pitchFamily="34" charset="-120"/>
              </a:rPr>
              <a:t>~₹4K</a:t>
            </a:r>
            <a:endParaRPr lang="en-US" sz="3400" dirty="0"/>
          </a:p>
        </p:txBody>
      </p:sp>
      <p:sp>
        <p:nvSpPr>
          <p:cNvPr id="12" name="Text 10"/>
          <p:cNvSpPr/>
          <p:nvPr/>
        </p:nvSpPr>
        <p:spPr>
          <a:xfrm>
            <a:off x="6858000" y="4023360"/>
            <a:ext cx="1920240" cy="347472"/>
          </a:xfrm>
          <a:prstGeom prst="rect">
            <a:avLst/>
          </a:prstGeom>
          <a:noFill/>
          <a:ln/>
        </p:spPr>
        <p:txBody>
          <a:bodyPr wrap="square"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Estimated monthly cost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indent="0" marL="0">
              <a:buNone/>
            </a:pPr>
            <a:r>
              <a:rPr lang="en-US" sz="3000" b="1" dirty="0">
                <a:solidFill>
                  <a:srgbClr val="1A3560"/>
                </a:solidFill>
                <a:latin typeface="Cambria" pitchFamily="34" charset="0"/>
                <a:ea typeface="Cambria" pitchFamily="34" charset="-122"/>
                <a:cs typeface="Cambria" pitchFamily="34" charset="-120"/>
              </a:rPr>
              <a:t>Problem &amp; Vision</a:t>
            </a:r>
            <a:endParaRPr lang="en-US" sz="3000" dirty="0"/>
          </a:p>
        </p:txBody>
      </p:sp>
      <p:sp>
        <p:nvSpPr>
          <p:cNvPr id="3" name="Text 1"/>
          <p:cNvSpPr/>
          <p:nvPr/>
        </p:nvSpPr>
        <p:spPr>
          <a:xfrm>
            <a:off x="457200" y="868680"/>
            <a:ext cx="8229600" cy="457200"/>
          </a:xfrm>
          <a:prstGeom prst="rect">
            <a:avLst/>
          </a:prstGeom>
          <a:noFill/>
          <a:ln/>
        </p:spPr>
        <p:txBody>
          <a:bodyPr wrap="square" rtlCol="0" anchor="ctr"/>
          <a:lstStyle/>
          <a:p>
            <a:pPr indent="0" marL="0">
              <a:buNone/>
            </a:pPr>
            <a:r>
              <a:rPr lang="en-US" sz="1350" dirty="0">
                <a:solidFill>
                  <a:srgbClr val="64748B"/>
                </a:solidFill>
                <a:latin typeface="Calibri" pitchFamily="34" charset="0"/>
                <a:ea typeface="Calibri" pitchFamily="34" charset="-122"/>
                <a:cs typeface="Calibri" pitchFamily="34" charset="-120"/>
              </a:rPr>
              <a:t>eCourts has no bulk export — researchers manually copy case data one by one. enfold-web automates this: pick a state · act · section · status and get a full CSV.</a:t>
            </a:r>
            <a:endParaRPr lang="en-US" sz="1350" dirty="0"/>
          </a:p>
        </p:txBody>
      </p:sp>
      <p:sp>
        <p:nvSpPr>
          <p:cNvPr id="4" name="Shape 2"/>
          <p:cNvSpPr/>
          <p:nvPr/>
        </p:nvSpPr>
        <p:spPr>
          <a:xfrm>
            <a:off x="411480" y="1508760"/>
            <a:ext cx="2633472" cy="3154680"/>
          </a:xfrm>
          <a:prstGeom prst="roundRect">
            <a:avLst>
              <a:gd name="adj" fmla="val 4167"/>
            </a:avLst>
          </a:prstGeom>
          <a:solidFill>
            <a:srgbClr val="EFF6FF"/>
          </a:solidFill>
          <a:ln/>
          <a:effectLst>
            <a:outerShdw sx="100000" sy="100000" kx="0" ky="0" algn="bl" rotWithShape="0" blurRad="88900" dist="25400" dir="2700000">
              <a:srgbClr val="000000">
                <a:alpha val="12000"/>
              </a:srgbClr>
            </a:outerShdw>
          </a:effectLst>
        </p:spPr>
      </p:sp>
      <p:sp>
        <p:nvSpPr>
          <p:cNvPr id="5" name="Text 3"/>
          <p:cNvSpPr/>
          <p:nvPr/>
        </p:nvSpPr>
        <p:spPr>
          <a:xfrm>
            <a:off x="502920" y="1664208"/>
            <a:ext cx="2450592" cy="502920"/>
          </a:xfrm>
          <a:prstGeom prst="rect">
            <a:avLst/>
          </a:prstGeom>
          <a:noFill/>
          <a:ln/>
        </p:spPr>
        <p:txBody>
          <a:bodyPr wrap="square" rtlCol="0" anchor="ctr"/>
          <a:lstStyle/>
          <a:p>
            <a:pPr algn="ctr" indent="0" marL="0">
              <a:buNone/>
            </a:pPr>
            <a:r>
              <a:rPr lang="en-US" sz="2800" dirty="0">
                <a:solidFill>
                  <a:srgbClr val="1D4ED8"/>
                </a:solidFill>
                <a:latin typeface="Calibri" pitchFamily="34" charset="0"/>
                <a:ea typeface="Calibri" pitchFamily="34" charset="-122"/>
                <a:cs typeface="Calibri" pitchFamily="34" charset="-120"/>
              </a:rPr>
              <a:t>①</a:t>
            </a:r>
            <a:endParaRPr lang="en-US" sz="2800" dirty="0"/>
          </a:p>
        </p:txBody>
      </p:sp>
      <p:sp>
        <p:nvSpPr>
          <p:cNvPr id="6" name="Text 4"/>
          <p:cNvSpPr/>
          <p:nvPr/>
        </p:nvSpPr>
        <p:spPr>
          <a:xfrm>
            <a:off x="521208" y="2231136"/>
            <a:ext cx="2414016" cy="347472"/>
          </a:xfrm>
          <a:prstGeom prst="rect">
            <a:avLst/>
          </a:prstGeom>
          <a:noFill/>
          <a:ln/>
        </p:spPr>
        <p:txBody>
          <a:bodyPr wrap="square" rtlCol="0" anchor="ctr"/>
          <a:lstStyle/>
          <a:p>
            <a:pPr algn="ctr" indent="0" marL="0">
              <a:buNone/>
            </a:pPr>
            <a:r>
              <a:rPr lang="en-US" sz="1350" b="1" dirty="0">
                <a:solidFill>
                  <a:srgbClr val="1A3560"/>
                </a:solidFill>
                <a:latin typeface="Calibri" pitchFamily="34" charset="0"/>
                <a:ea typeface="Calibri" pitchFamily="34" charset="-122"/>
                <a:cs typeface="Calibri" pitchFamily="34" charset="-120"/>
              </a:rPr>
              <a:t>Queue a Job</a:t>
            </a:r>
            <a:endParaRPr lang="en-US" sz="1350" dirty="0"/>
          </a:p>
        </p:txBody>
      </p:sp>
      <p:sp>
        <p:nvSpPr>
          <p:cNvPr id="7" name="Text 5"/>
          <p:cNvSpPr/>
          <p:nvPr/>
        </p:nvSpPr>
        <p:spPr>
          <a:xfrm>
            <a:off x="539496" y="2651760"/>
            <a:ext cx="2377440" cy="182880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Authenticated legal researcher submits a form: state, act, section, pending/disposed. A ScrapeTask is instantly queued.</a:t>
            </a:r>
            <a:endParaRPr lang="en-US" sz="1100" dirty="0"/>
          </a:p>
        </p:txBody>
      </p:sp>
      <p:sp>
        <p:nvSpPr>
          <p:cNvPr id="8" name="Shape 6"/>
          <p:cNvSpPr/>
          <p:nvPr/>
        </p:nvSpPr>
        <p:spPr>
          <a:xfrm>
            <a:off x="3227832" y="1508760"/>
            <a:ext cx="2633472" cy="3154680"/>
          </a:xfrm>
          <a:prstGeom prst="roundRect">
            <a:avLst>
              <a:gd name="adj" fmla="val 4167"/>
            </a:avLst>
          </a:prstGeom>
          <a:solidFill>
            <a:srgbClr val="EEF2FF"/>
          </a:solidFill>
          <a:ln/>
          <a:effectLst>
            <a:outerShdw sx="100000" sy="100000" kx="0" ky="0" algn="bl" rotWithShape="0" blurRad="88900" dist="25400" dir="2700000">
              <a:srgbClr val="000000">
                <a:alpha val="12000"/>
              </a:srgbClr>
            </a:outerShdw>
          </a:effectLst>
        </p:spPr>
      </p:sp>
      <p:sp>
        <p:nvSpPr>
          <p:cNvPr id="9" name="Text 7"/>
          <p:cNvSpPr/>
          <p:nvPr/>
        </p:nvSpPr>
        <p:spPr>
          <a:xfrm>
            <a:off x="3319272" y="1664208"/>
            <a:ext cx="2450592" cy="502920"/>
          </a:xfrm>
          <a:prstGeom prst="rect">
            <a:avLst/>
          </a:prstGeom>
          <a:noFill/>
          <a:ln/>
        </p:spPr>
        <p:txBody>
          <a:bodyPr wrap="square" rtlCol="0" anchor="ctr"/>
          <a:lstStyle/>
          <a:p>
            <a:pPr algn="ctr" indent="0" marL="0">
              <a:buNone/>
            </a:pPr>
            <a:r>
              <a:rPr lang="en-US" sz="2800" dirty="0">
                <a:solidFill>
                  <a:srgbClr val="1D4ED8"/>
                </a:solidFill>
                <a:latin typeface="Calibri" pitchFamily="34" charset="0"/>
                <a:ea typeface="Calibri" pitchFamily="34" charset="-122"/>
                <a:cs typeface="Calibri" pitchFamily="34" charset="-120"/>
              </a:rPr>
              <a:t>②</a:t>
            </a:r>
            <a:endParaRPr lang="en-US" sz="2800" dirty="0"/>
          </a:p>
        </p:txBody>
      </p:sp>
      <p:sp>
        <p:nvSpPr>
          <p:cNvPr id="10" name="Text 8"/>
          <p:cNvSpPr/>
          <p:nvPr/>
        </p:nvSpPr>
        <p:spPr>
          <a:xfrm>
            <a:off x="3337560" y="2231136"/>
            <a:ext cx="2414016" cy="347472"/>
          </a:xfrm>
          <a:prstGeom prst="rect">
            <a:avLst/>
          </a:prstGeom>
          <a:noFill/>
          <a:ln/>
        </p:spPr>
        <p:txBody>
          <a:bodyPr wrap="square" rtlCol="0" anchor="ctr"/>
          <a:lstStyle/>
          <a:p>
            <a:pPr algn="ctr" indent="0" marL="0">
              <a:buNone/>
            </a:pPr>
            <a:r>
              <a:rPr lang="en-US" sz="1350" b="1" dirty="0">
                <a:solidFill>
                  <a:srgbClr val="1A3560"/>
                </a:solidFill>
                <a:latin typeface="Calibri" pitchFamily="34" charset="0"/>
                <a:ea typeface="Calibri" pitchFamily="34" charset="-122"/>
                <a:cs typeface="Calibri" pitchFamily="34" charset="-120"/>
              </a:rPr>
              <a:t>Walk eCourts</a:t>
            </a:r>
            <a:endParaRPr lang="en-US" sz="1350" dirty="0"/>
          </a:p>
        </p:txBody>
      </p:sp>
      <p:sp>
        <p:nvSpPr>
          <p:cNvPr id="11" name="Text 9"/>
          <p:cNvSpPr/>
          <p:nvPr/>
        </p:nvSpPr>
        <p:spPr>
          <a:xfrm>
            <a:off x="3355848" y="2651760"/>
            <a:ext cx="2377440" cy="182880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Celery worker descends 7 hierarchy levels — State → District → Court Complex → Establishment → Act → Cases → Case History.</a:t>
            </a:r>
            <a:endParaRPr lang="en-US" sz="1100" dirty="0"/>
          </a:p>
        </p:txBody>
      </p:sp>
      <p:sp>
        <p:nvSpPr>
          <p:cNvPr id="12" name="Shape 10"/>
          <p:cNvSpPr/>
          <p:nvPr/>
        </p:nvSpPr>
        <p:spPr>
          <a:xfrm>
            <a:off x="6044184" y="1508760"/>
            <a:ext cx="2633472" cy="3154680"/>
          </a:xfrm>
          <a:prstGeom prst="roundRect">
            <a:avLst>
              <a:gd name="adj" fmla="val 4167"/>
            </a:avLst>
          </a:prstGeom>
          <a:solidFill>
            <a:srgbClr val="F0FDF4"/>
          </a:solidFill>
          <a:ln/>
          <a:effectLst>
            <a:outerShdw sx="100000" sy="100000" kx="0" ky="0" algn="bl" rotWithShape="0" blurRad="88900" dist="25400" dir="2700000">
              <a:srgbClr val="000000">
                <a:alpha val="12000"/>
              </a:srgbClr>
            </a:outerShdw>
          </a:effectLst>
        </p:spPr>
      </p:sp>
      <p:sp>
        <p:nvSpPr>
          <p:cNvPr id="13" name="Text 11"/>
          <p:cNvSpPr/>
          <p:nvPr/>
        </p:nvSpPr>
        <p:spPr>
          <a:xfrm>
            <a:off x="6135624" y="1664208"/>
            <a:ext cx="2450592" cy="502920"/>
          </a:xfrm>
          <a:prstGeom prst="rect">
            <a:avLst/>
          </a:prstGeom>
          <a:noFill/>
          <a:ln/>
        </p:spPr>
        <p:txBody>
          <a:bodyPr wrap="square" rtlCol="0" anchor="ctr"/>
          <a:lstStyle/>
          <a:p>
            <a:pPr algn="ctr" indent="0" marL="0">
              <a:buNone/>
            </a:pPr>
            <a:r>
              <a:rPr lang="en-US" sz="2800" dirty="0">
                <a:solidFill>
                  <a:srgbClr val="1D4ED8"/>
                </a:solidFill>
                <a:latin typeface="Calibri" pitchFamily="34" charset="0"/>
                <a:ea typeface="Calibri" pitchFamily="34" charset="-122"/>
                <a:cs typeface="Calibri" pitchFamily="34" charset="-120"/>
              </a:rPr>
              <a:t>③</a:t>
            </a:r>
            <a:endParaRPr lang="en-US" sz="2800" dirty="0"/>
          </a:p>
        </p:txBody>
      </p:sp>
      <p:sp>
        <p:nvSpPr>
          <p:cNvPr id="14" name="Text 12"/>
          <p:cNvSpPr/>
          <p:nvPr/>
        </p:nvSpPr>
        <p:spPr>
          <a:xfrm>
            <a:off x="6153912" y="2231136"/>
            <a:ext cx="2414016" cy="347472"/>
          </a:xfrm>
          <a:prstGeom prst="rect">
            <a:avLst/>
          </a:prstGeom>
          <a:noFill/>
          <a:ln/>
        </p:spPr>
        <p:txBody>
          <a:bodyPr wrap="square" rtlCol="0" anchor="ctr"/>
          <a:lstStyle/>
          <a:p>
            <a:pPr algn="ctr" indent="0" marL="0">
              <a:buNone/>
            </a:pPr>
            <a:r>
              <a:rPr lang="en-US" sz="1350" b="1" dirty="0">
                <a:solidFill>
                  <a:srgbClr val="1A3560"/>
                </a:solidFill>
                <a:latin typeface="Calibri" pitchFamily="34" charset="0"/>
                <a:ea typeface="Calibri" pitchFamily="34" charset="-122"/>
                <a:cs typeface="Calibri" pitchFamily="34" charset="-120"/>
              </a:rPr>
              <a:t>Download CSV</a:t>
            </a:r>
            <a:endParaRPr lang="en-US" sz="1350" dirty="0"/>
          </a:p>
        </p:txBody>
      </p:sp>
      <p:sp>
        <p:nvSpPr>
          <p:cNvPr id="15" name="Text 13"/>
          <p:cNvSpPr/>
          <p:nvPr/>
        </p:nvSpPr>
        <p:spPr>
          <a:xfrm>
            <a:off x="6172200" y="2651760"/>
            <a:ext cx="2377440" cy="182880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Results flatten to one row per case: parties, CNR, charges, hearing history, and clickable order PDF links — fetched live, never stored.</a:t>
            </a:r>
            <a:endParaRPr lang="en-US" sz="1100" dirty="0"/>
          </a:p>
        </p:txBody>
      </p:sp>
      <p:sp>
        <p:nvSpPr>
          <p:cNvPr id="16" name="Shape 14"/>
          <p:cNvSpPr/>
          <p:nvPr/>
        </p:nvSpPr>
        <p:spPr>
          <a:xfrm>
            <a:off x="411480" y="4736592"/>
            <a:ext cx="8321040" cy="301752"/>
          </a:xfrm>
          <a:prstGeom prst="roundRect">
            <a:avLst>
              <a:gd name="adj" fmla="val 21212"/>
            </a:avLst>
          </a:prstGeom>
          <a:solidFill>
            <a:srgbClr val="FEF3C7"/>
          </a:solidFill>
          <a:ln/>
        </p:spPr>
      </p:sp>
      <p:sp>
        <p:nvSpPr>
          <p:cNvPr id="17" name="Text 15"/>
          <p:cNvSpPr/>
          <p:nvPr/>
        </p:nvSpPr>
        <p:spPr>
          <a:xfrm>
            <a:off x="530352" y="4754880"/>
            <a:ext cx="8083296" cy="256032"/>
          </a:xfrm>
          <a:prstGeom prst="rect">
            <a:avLst/>
          </a:prstGeom>
          <a:noFill/>
          <a:ln/>
        </p:spPr>
        <p:txBody>
          <a:bodyPr wrap="square" rtlCol="0" anchor="ctr"/>
          <a:lstStyle/>
          <a:p>
            <a:pPr indent="0" marL="0">
              <a:buNone/>
            </a:pPr>
            <a:r>
              <a:rPr lang="en-US" sz="1000" dirty="0">
                <a:solidFill>
                  <a:srgbClr val="92400E"/>
                </a:solidFill>
                <a:latin typeface="Calibri" pitchFamily="34" charset="0"/>
                <a:ea typeface="Calibri" pitchFamily="34" charset="-122"/>
                <a:cs typeface="Calibri" pitchFamily="34" charset="-120"/>
              </a:rPr>
              <a:t>⚠  Data is sensitive — includes POCSO / child-marriage matters naming minors. Access control &amp; data governance are first-class concerns.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182880"/>
            <a:ext cx="8229600" cy="502920"/>
          </a:xfrm>
          <a:prstGeom prst="rect">
            <a:avLst/>
          </a:prstGeom>
          <a:noFill/>
          <a:ln/>
        </p:spPr>
        <p:txBody>
          <a:bodyPr wrap="square" rtlCol="0" anchor="ctr"/>
          <a:lstStyle/>
          <a:p>
            <a:pPr indent="0" marL="0">
              <a:buNone/>
            </a:pPr>
            <a:r>
              <a:rPr lang="en-US" sz="2800" b="1" dirty="0">
                <a:solidFill>
                  <a:srgbClr val="1A3560"/>
                </a:solidFill>
                <a:latin typeface="Cambria" pitchFamily="34" charset="0"/>
                <a:ea typeface="Cambria" pitchFamily="34" charset="-122"/>
                <a:cs typeface="Cambria" pitchFamily="34" charset="-120"/>
              </a:rPr>
              <a:t>System Architecture</a:t>
            </a:r>
            <a:endParaRPr lang="en-US" sz="2800" dirty="0"/>
          </a:p>
        </p:txBody>
      </p:sp>
      <p:sp>
        <p:nvSpPr>
          <p:cNvPr id="3" name="Text 1"/>
          <p:cNvSpPr/>
          <p:nvPr/>
        </p:nvSpPr>
        <p:spPr>
          <a:xfrm>
            <a:off x="457200" y="731520"/>
            <a:ext cx="8229600" cy="320040"/>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Single Docker Compose stack on one host · Postgres = metadata only · Results on shared volume · PDFs proxied on demand</a:t>
            </a:r>
            <a:endParaRPr lang="en-US" sz="1100" dirty="0"/>
          </a:p>
        </p:txBody>
      </p:sp>
      <p:sp>
        <p:nvSpPr>
          <p:cNvPr id="4" name="Shape 2"/>
          <p:cNvSpPr/>
          <p:nvPr/>
        </p:nvSpPr>
        <p:spPr>
          <a:xfrm>
            <a:off x="182880" y="1188720"/>
            <a:ext cx="1234440" cy="658368"/>
          </a:xfrm>
          <a:prstGeom prst="roundRect">
            <a:avLst>
              <a:gd name="adj" fmla="val 13889"/>
            </a:avLst>
          </a:prstGeom>
          <a:solidFill>
            <a:srgbClr val="EFF6FF"/>
          </a:solidFill>
          <a:ln/>
          <a:effectLst>
            <a:outerShdw sx="100000" sy="100000" kx="0" ky="0" algn="bl" rotWithShape="0" blurRad="88900" dist="25400" dir="2700000">
              <a:srgbClr val="000000">
                <a:alpha val="12000"/>
              </a:srgbClr>
            </a:outerShdw>
          </a:effectLst>
        </p:spPr>
      </p:sp>
      <p:sp>
        <p:nvSpPr>
          <p:cNvPr id="5" name="Text 3"/>
          <p:cNvSpPr/>
          <p:nvPr/>
        </p:nvSpPr>
        <p:spPr>
          <a:xfrm>
            <a:off x="246888" y="1287475"/>
            <a:ext cx="1106424" cy="274320"/>
          </a:xfrm>
          <a:prstGeom prst="rect">
            <a:avLst/>
          </a:prstGeom>
          <a:noFill/>
          <a:ln/>
        </p:spPr>
        <p:txBody>
          <a:bodyPr wrap="square" lIns="0" tIns="0" rIns="0" bIns="0" rtlCol="0" anchor="ctr"/>
          <a:lstStyle/>
          <a:p>
            <a:pPr algn="ctr" indent="0" marL="0">
              <a:buNone/>
            </a:pPr>
            <a:r>
              <a:rPr lang="en-US" sz="1050" b="1" dirty="0">
                <a:solidFill>
                  <a:srgbClr val="1A3560"/>
                </a:solidFill>
                <a:latin typeface="Calibri" pitchFamily="34" charset="0"/>
                <a:ea typeface="Calibri" pitchFamily="34" charset="-122"/>
                <a:cs typeface="Calibri" pitchFamily="34" charset="-120"/>
              </a:rPr>
              <a:t>Browser</a:t>
            </a:r>
            <a:endParaRPr lang="en-US" sz="1050" dirty="0"/>
          </a:p>
        </p:txBody>
      </p:sp>
      <p:sp>
        <p:nvSpPr>
          <p:cNvPr id="6" name="Text 4"/>
          <p:cNvSpPr/>
          <p:nvPr/>
        </p:nvSpPr>
        <p:spPr>
          <a:xfrm>
            <a:off x="246888" y="1563990"/>
            <a:ext cx="1106424" cy="219456"/>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Researcher</a:t>
            </a:r>
            <a:endParaRPr lang="en-US" sz="900" dirty="0"/>
          </a:p>
        </p:txBody>
      </p:sp>
      <p:sp>
        <p:nvSpPr>
          <p:cNvPr id="7" name="Shape 5"/>
          <p:cNvSpPr/>
          <p:nvPr/>
        </p:nvSpPr>
        <p:spPr>
          <a:xfrm>
            <a:off x="1417320" y="1517904"/>
            <a:ext cx="228600" cy="0"/>
          </a:xfrm>
          <a:prstGeom prst="line">
            <a:avLst/>
          </a:prstGeom>
          <a:noFill/>
          <a:ln w="19050">
            <a:solidFill>
              <a:srgbClr val="94A3B8"/>
            </a:solidFill>
            <a:prstDash val="solid"/>
            <a:tailEnd type="triangle"/>
          </a:ln>
        </p:spPr>
      </p:sp>
      <p:sp>
        <p:nvSpPr>
          <p:cNvPr id="8" name="Shape 6"/>
          <p:cNvSpPr/>
          <p:nvPr/>
        </p:nvSpPr>
        <p:spPr>
          <a:xfrm>
            <a:off x="1645920" y="1188720"/>
            <a:ext cx="1234440" cy="658368"/>
          </a:xfrm>
          <a:prstGeom prst="roundRect">
            <a:avLst>
              <a:gd name="adj" fmla="val 13889"/>
            </a:avLst>
          </a:prstGeom>
          <a:solidFill>
            <a:srgbClr val="DBEAFE"/>
          </a:solidFill>
          <a:ln/>
          <a:effectLst>
            <a:outerShdw sx="100000" sy="100000" kx="0" ky="0" algn="bl" rotWithShape="0" blurRad="88900" dist="25400" dir="2700000">
              <a:srgbClr val="000000">
                <a:alpha val="12000"/>
              </a:srgbClr>
            </a:outerShdw>
          </a:effectLst>
        </p:spPr>
      </p:sp>
      <p:sp>
        <p:nvSpPr>
          <p:cNvPr id="9" name="Text 7"/>
          <p:cNvSpPr/>
          <p:nvPr/>
        </p:nvSpPr>
        <p:spPr>
          <a:xfrm>
            <a:off x="1709928" y="1287475"/>
            <a:ext cx="1106424" cy="274320"/>
          </a:xfrm>
          <a:prstGeom prst="rect">
            <a:avLst/>
          </a:prstGeom>
          <a:noFill/>
          <a:ln/>
        </p:spPr>
        <p:txBody>
          <a:bodyPr wrap="square" lIns="0" tIns="0" rIns="0" bIns="0" rtlCol="0" anchor="ctr"/>
          <a:lstStyle/>
          <a:p>
            <a:pPr algn="ctr" indent="0" marL="0">
              <a:buNone/>
            </a:pPr>
            <a:r>
              <a:rPr lang="en-US" sz="1050" b="1" dirty="0">
                <a:solidFill>
                  <a:srgbClr val="1A3560"/>
                </a:solidFill>
                <a:latin typeface="Calibri" pitchFamily="34" charset="0"/>
                <a:ea typeface="Calibri" pitchFamily="34" charset="-122"/>
                <a:cs typeface="Calibri" pitchFamily="34" charset="-120"/>
              </a:rPr>
              <a:t>Caddy</a:t>
            </a:r>
            <a:endParaRPr lang="en-US" sz="1050" dirty="0"/>
          </a:p>
        </p:txBody>
      </p:sp>
      <p:sp>
        <p:nvSpPr>
          <p:cNvPr id="10" name="Text 8"/>
          <p:cNvSpPr/>
          <p:nvPr/>
        </p:nvSpPr>
        <p:spPr>
          <a:xfrm>
            <a:off x="1709928" y="1563990"/>
            <a:ext cx="1106424" cy="219456"/>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TLS · Proxy</a:t>
            </a:r>
            <a:endParaRPr lang="en-US" sz="900" dirty="0"/>
          </a:p>
        </p:txBody>
      </p:sp>
      <p:sp>
        <p:nvSpPr>
          <p:cNvPr id="11" name="Shape 9"/>
          <p:cNvSpPr/>
          <p:nvPr/>
        </p:nvSpPr>
        <p:spPr>
          <a:xfrm>
            <a:off x="2880360" y="1517904"/>
            <a:ext cx="228600" cy="0"/>
          </a:xfrm>
          <a:prstGeom prst="line">
            <a:avLst/>
          </a:prstGeom>
          <a:noFill/>
          <a:ln w="19050">
            <a:solidFill>
              <a:srgbClr val="94A3B8"/>
            </a:solidFill>
            <a:prstDash val="solid"/>
            <a:tailEnd type="triangle"/>
          </a:ln>
        </p:spPr>
      </p:sp>
      <p:sp>
        <p:nvSpPr>
          <p:cNvPr id="12" name="Shape 10"/>
          <p:cNvSpPr/>
          <p:nvPr/>
        </p:nvSpPr>
        <p:spPr>
          <a:xfrm>
            <a:off x="3108960" y="1115568"/>
            <a:ext cx="1691640" cy="822960"/>
          </a:xfrm>
          <a:prstGeom prst="roundRect">
            <a:avLst>
              <a:gd name="adj" fmla="val 11111"/>
            </a:avLst>
          </a:prstGeom>
          <a:solidFill>
            <a:srgbClr val="1D4ED8"/>
          </a:solidFill>
          <a:ln/>
          <a:effectLst>
            <a:outerShdw sx="100000" sy="100000" kx="0" ky="0" algn="bl" rotWithShape="0" blurRad="88900" dist="25400" dir="2700000">
              <a:srgbClr val="000000">
                <a:alpha val="12000"/>
              </a:srgbClr>
            </a:outerShdw>
          </a:effectLst>
        </p:spPr>
      </p:sp>
      <p:sp>
        <p:nvSpPr>
          <p:cNvPr id="13" name="Text 11"/>
          <p:cNvSpPr/>
          <p:nvPr/>
        </p:nvSpPr>
        <p:spPr>
          <a:xfrm>
            <a:off x="3172968" y="1239012"/>
            <a:ext cx="15636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Django</a:t>
            </a:r>
            <a:endParaRPr lang="en-US" sz="1050" dirty="0"/>
          </a:p>
        </p:txBody>
      </p:sp>
      <p:sp>
        <p:nvSpPr>
          <p:cNvPr id="14" name="Text 12"/>
          <p:cNvSpPr/>
          <p:nvPr/>
        </p:nvSpPr>
        <p:spPr>
          <a:xfrm>
            <a:off x="3172968" y="1584655"/>
            <a:ext cx="1563624" cy="219456"/>
          </a:xfrm>
          <a:prstGeom prst="rect">
            <a:avLst/>
          </a:prstGeom>
          <a:noFill/>
          <a:ln/>
        </p:spPr>
        <p:txBody>
          <a:bodyPr wrap="square" lIns="0" tIns="0" rIns="0" bIns="0" rtlCol="0" anchor="ctr"/>
          <a:lstStyle/>
          <a:p>
            <a:pPr algn="ctr" indent="0" marL="0">
              <a:buNone/>
            </a:pPr>
            <a:r>
              <a:rPr lang="en-US" sz="900" dirty="0">
                <a:solidFill>
                  <a:srgbClr val="BFDBFE"/>
                </a:solidFill>
                <a:latin typeface="Calibri" pitchFamily="34" charset="0"/>
                <a:ea typeface="Calibri" pitchFamily="34" charset="-122"/>
                <a:cs typeface="Calibri" pitchFamily="34" charset="-120"/>
              </a:rPr>
              <a:t>views · forms · CSV</a:t>
            </a:r>
            <a:endParaRPr lang="en-US" sz="900" dirty="0"/>
          </a:p>
        </p:txBody>
      </p:sp>
      <p:sp>
        <p:nvSpPr>
          <p:cNvPr id="15" name="Shape 13"/>
          <p:cNvSpPr/>
          <p:nvPr/>
        </p:nvSpPr>
        <p:spPr>
          <a:xfrm>
            <a:off x="4800600" y="1517904"/>
            <a:ext cx="256032" cy="0"/>
          </a:xfrm>
          <a:prstGeom prst="line">
            <a:avLst/>
          </a:prstGeom>
          <a:noFill/>
          <a:ln w="19050">
            <a:solidFill>
              <a:srgbClr val="94A3B8"/>
            </a:solidFill>
            <a:prstDash val="solid"/>
            <a:tailEnd type="triangle"/>
          </a:ln>
        </p:spPr>
      </p:sp>
      <p:sp>
        <p:nvSpPr>
          <p:cNvPr id="16" name="Shape 14"/>
          <p:cNvSpPr/>
          <p:nvPr/>
        </p:nvSpPr>
        <p:spPr>
          <a:xfrm>
            <a:off x="5056632" y="1188720"/>
            <a:ext cx="1554480" cy="658368"/>
          </a:xfrm>
          <a:prstGeom prst="roundRect">
            <a:avLst>
              <a:gd name="adj" fmla="val 13889"/>
            </a:avLst>
          </a:prstGeom>
          <a:solidFill>
            <a:srgbClr val="F8FAFC"/>
          </a:solidFill>
          <a:ln/>
          <a:effectLst>
            <a:outerShdw sx="100000" sy="100000" kx="0" ky="0" algn="bl" rotWithShape="0" blurRad="88900" dist="25400" dir="2700000">
              <a:srgbClr val="000000">
                <a:alpha val="12000"/>
              </a:srgbClr>
            </a:outerShdw>
          </a:effectLst>
        </p:spPr>
      </p:sp>
      <p:sp>
        <p:nvSpPr>
          <p:cNvPr id="17" name="Text 15"/>
          <p:cNvSpPr/>
          <p:nvPr/>
        </p:nvSpPr>
        <p:spPr>
          <a:xfrm>
            <a:off x="5120640" y="1287475"/>
            <a:ext cx="1426464" cy="274320"/>
          </a:xfrm>
          <a:prstGeom prst="rect">
            <a:avLst/>
          </a:prstGeom>
          <a:noFill/>
          <a:ln/>
        </p:spPr>
        <p:txBody>
          <a:bodyPr wrap="square" lIns="0" tIns="0" rIns="0" bIns="0" rtlCol="0" anchor="ctr"/>
          <a:lstStyle/>
          <a:p>
            <a:pPr algn="ctr" indent="0" marL="0">
              <a:buNone/>
            </a:pPr>
            <a:r>
              <a:rPr lang="en-US" sz="1050" b="1" dirty="0">
                <a:solidFill>
                  <a:srgbClr val="1A3560"/>
                </a:solidFill>
                <a:latin typeface="Calibri" pitchFamily="34" charset="0"/>
                <a:ea typeface="Calibri" pitchFamily="34" charset="-122"/>
                <a:cs typeface="Calibri" pitchFamily="34" charset="-120"/>
              </a:rPr>
              <a:t>PostgreSQL</a:t>
            </a:r>
            <a:endParaRPr lang="en-US" sz="1050" dirty="0"/>
          </a:p>
        </p:txBody>
      </p:sp>
      <p:sp>
        <p:nvSpPr>
          <p:cNvPr id="18" name="Text 16"/>
          <p:cNvSpPr/>
          <p:nvPr/>
        </p:nvSpPr>
        <p:spPr>
          <a:xfrm>
            <a:off x="5120640" y="1563990"/>
            <a:ext cx="1426464" cy="219456"/>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tasks + users</a:t>
            </a:r>
            <a:endParaRPr lang="en-US" sz="900" dirty="0"/>
          </a:p>
        </p:txBody>
      </p:sp>
      <p:sp>
        <p:nvSpPr>
          <p:cNvPr id="19" name="Shape 17"/>
          <p:cNvSpPr/>
          <p:nvPr/>
        </p:nvSpPr>
        <p:spPr>
          <a:xfrm>
            <a:off x="7086600" y="1188720"/>
            <a:ext cx="1737360" cy="658368"/>
          </a:xfrm>
          <a:prstGeom prst="roundRect">
            <a:avLst>
              <a:gd name="adj" fmla="val 13889"/>
            </a:avLst>
          </a:prstGeom>
          <a:solidFill>
            <a:srgbClr val="FFFBEB"/>
          </a:solidFill>
          <a:ln/>
          <a:effectLst>
            <a:outerShdw sx="100000" sy="100000" kx="0" ky="0" algn="bl" rotWithShape="0" blurRad="88900" dist="25400" dir="2700000">
              <a:srgbClr val="000000">
                <a:alpha val="12000"/>
              </a:srgbClr>
            </a:outerShdw>
          </a:effectLst>
        </p:spPr>
      </p:sp>
      <p:sp>
        <p:nvSpPr>
          <p:cNvPr id="20" name="Text 18"/>
          <p:cNvSpPr/>
          <p:nvPr/>
        </p:nvSpPr>
        <p:spPr>
          <a:xfrm>
            <a:off x="7150608" y="1287475"/>
            <a:ext cx="1609344" cy="274320"/>
          </a:xfrm>
          <a:prstGeom prst="rect">
            <a:avLst/>
          </a:prstGeom>
          <a:noFill/>
          <a:ln/>
        </p:spPr>
        <p:txBody>
          <a:bodyPr wrap="square" lIns="0" tIns="0" rIns="0" bIns="0" rtlCol="0" anchor="ctr"/>
          <a:lstStyle/>
          <a:p>
            <a:pPr algn="ctr" indent="0" marL="0">
              <a:buNone/>
            </a:pPr>
            <a:r>
              <a:rPr lang="en-US" sz="1050" b="1" dirty="0">
                <a:solidFill>
                  <a:srgbClr val="1A3560"/>
                </a:solidFill>
                <a:latin typeface="Calibri" pitchFamily="34" charset="0"/>
                <a:ea typeface="Calibri" pitchFamily="34" charset="-122"/>
                <a:cs typeface="Calibri" pitchFamily="34" charset="-120"/>
              </a:rPr>
              <a:t>Flower</a:t>
            </a:r>
            <a:endParaRPr lang="en-US" sz="1050" dirty="0"/>
          </a:p>
        </p:txBody>
      </p:sp>
      <p:sp>
        <p:nvSpPr>
          <p:cNvPr id="21" name="Text 19"/>
          <p:cNvSpPr/>
          <p:nvPr/>
        </p:nvSpPr>
        <p:spPr>
          <a:xfrm>
            <a:off x="7150608" y="1563990"/>
            <a:ext cx="1609344" cy="219456"/>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Celery monitor</a:t>
            </a:r>
            <a:endParaRPr lang="en-US" sz="900" dirty="0"/>
          </a:p>
        </p:txBody>
      </p:sp>
      <p:sp>
        <p:nvSpPr>
          <p:cNvPr id="22" name="Shape 20"/>
          <p:cNvSpPr/>
          <p:nvPr/>
        </p:nvSpPr>
        <p:spPr>
          <a:xfrm>
            <a:off x="3954780" y="1965960"/>
            <a:ext cx="0" cy="347472"/>
          </a:xfrm>
          <a:prstGeom prst="line">
            <a:avLst/>
          </a:prstGeom>
          <a:noFill/>
          <a:ln w="19050">
            <a:solidFill>
              <a:srgbClr val="94A3B8"/>
            </a:solidFill>
            <a:prstDash val="solid"/>
            <a:tailEnd type="triangle"/>
          </a:ln>
        </p:spPr>
      </p:sp>
      <p:sp>
        <p:nvSpPr>
          <p:cNvPr id="23" name="Shape 21"/>
          <p:cNvSpPr/>
          <p:nvPr/>
        </p:nvSpPr>
        <p:spPr>
          <a:xfrm>
            <a:off x="3108960" y="2240280"/>
            <a:ext cx="1691640" cy="594360"/>
          </a:xfrm>
          <a:prstGeom prst="roundRect">
            <a:avLst>
              <a:gd name="adj" fmla="val 15385"/>
            </a:avLst>
          </a:prstGeom>
          <a:solidFill>
            <a:srgbClr val="FFF1F2"/>
          </a:solidFill>
          <a:ln/>
          <a:effectLst>
            <a:outerShdw sx="100000" sy="100000" kx="0" ky="0" algn="bl" rotWithShape="0" blurRad="88900" dist="25400" dir="2700000">
              <a:srgbClr val="000000">
                <a:alpha val="12000"/>
              </a:srgbClr>
            </a:outerShdw>
          </a:effectLst>
        </p:spPr>
      </p:sp>
      <p:sp>
        <p:nvSpPr>
          <p:cNvPr id="24" name="Text 22"/>
          <p:cNvSpPr/>
          <p:nvPr/>
        </p:nvSpPr>
        <p:spPr>
          <a:xfrm>
            <a:off x="3172968" y="2329434"/>
            <a:ext cx="1563624" cy="274320"/>
          </a:xfrm>
          <a:prstGeom prst="rect">
            <a:avLst/>
          </a:prstGeom>
          <a:noFill/>
          <a:ln/>
        </p:spPr>
        <p:txBody>
          <a:bodyPr wrap="square" lIns="0" tIns="0" rIns="0" bIns="0" rtlCol="0" anchor="ctr"/>
          <a:lstStyle/>
          <a:p>
            <a:pPr algn="ctr" indent="0" marL="0">
              <a:buNone/>
            </a:pPr>
            <a:r>
              <a:rPr lang="en-US" sz="1050" b="1" dirty="0">
                <a:solidFill>
                  <a:srgbClr val="1A3560"/>
                </a:solidFill>
                <a:latin typeface="Calibri" pitchFamily="34" charset="0"/>
                <a:ea typeface="Calibri" pitchFamily="34" charset="-122"/>
                <a:cs typeface="Calibri" pitchFamily="34" charset="-120"/>
              </a:rPr>
              <a:t>Redis</a:t>
            </a:r>
            <a:endParaRPr lang="en-US" sz="1050" dirty="0"/>
          </a:p>
        </p:txBody>
      </p:sp>
      <p:sp>
        <p:nvSpPr>
          <p:cNvPr id="25" name="Text 23"/>
          <p:cNvSpPr/>
          <p:nvPr/>
        </p:nvSpPr>
        <p:spPr>
          <a:xfrm>
            <a:off x="3172968" y="2579065"/>
            <a:ext cx="1563624" cy="219456"/>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Job broker</a:t>
            </a:r>
            <a:endParaRPr lang="en-US" sz="900" dirty="0"/>
          </a:p>
        </p:txBody>
      </p:sp>
      <p:sp>
        <p:nvSpPr>
          <p:cNvPr id="26" name="Text 24"/>
          <p:cNvSpPr/>
          <p:nvPr/>
        </p:nvSpPr>
        <p:spPr>
          <a:xfrm>
            <a:off x="3977640" y="1947672"/>
            <a:ext cx="822960" cy="201168"/>
          </a:xfrm>
          <a:prstGeom prst="rect">
            <a:avLst/>
          </a:prstGeom>
          <a:noFill/>
          <a:ln/>
        </p:spPr>
        <p:txBody>
          <a:bodyPr wrap="square"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enqueues</a:t>
            </a:r>
            <a:endParaRPr lang="en-US" sz="850" dirty="0"/>
          </a:p>
        </p:txBody>
      </p:sp>
      <p:sp>
        <p:nvSpPr>
          <p:cNvPr id="27" name="Shape 25"/>
          <p:cNvSpPr/>
          <p:nvPr/>
        </p:nvSpPr>
        <p:spPr>
          <a:xfrm>
            <a:off x="3954780" y="2834640"/>
            <a:ext cx="0" cy="411480"/>
          </a:xfrm>
          <a:prstGeom prst="line">
            <a:avLst/>
          </a:prstGeom>
          <a:noFill/>
          <a:ln w="19050">
            <a:solidFill>
              <a:srgbClr val="94A3B8"/>
            </a:solidFill>
            <a:prstDash val="solid"/>
            <a:tailEnd type="triangle"/>
          </a:ln>
        </p:spPr>
      </p:sp>
      <p:sp>
        <p:nvSpPr>
          <p:cNvPr id="28" name="Shape 26"/>
          <p:cNvSpPr/>
          <p:nvPr/>
        </p:nvSpPr>
        <p:spPr>
          <a:xfrm>
            <a:off x="3108960" y="3246120"/>
            <a:ext cx="1691640" cy="731520"/>
          </a:xfrm>
          <a:prstGeom prst="roundRect">
            <a:avLst>
              <a:gd name="adj" fmla="val 12500"/>
            </a:avLst>
          </a:prstGeom>
          <a:solidFill>
            <a:srgbClr val="0EA5E9"/>
          </a:solidFill>
          <a:ln/>
          <a:effectLst>
            <a:outerShdw sx="100000" sy="100000" kx="0" ky="0" algn="bl" rotWithShape="0" blurRad="88900" dist="25400" dir="2700000">
              <a:srgbClr val="000000">
                <a:alpha val="12000"/>
              </a:srgbClr>
            </a:outerShdw>
          </a:effectLst>
        </p:spPr>
      </p:sp>
      <p:sp>
        <p:nvSpPr>
          <p:cNvPr id="29" name="Text 27"/>
          <p:cNvSpPr/>
          <p:nvPr/>
        </p:nvSpPr>
        <p:spPr>
          <a:xfrm>
            <a:off x="3172968" y="3355848"/>
            <a:ext cx="156362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Celery Worker</a:t>
            </a:r>
            <a:endParaRPr lang="en-US" sz="1050" dirty="0"/>
          </a:p>
        </p:txBody>
      </p:sp>
      <p:sp>
        <p:nvSpPr>
          <p:cNvPr id="30" name="Text 28"/>
          <p:cNvSpPr/>
          <p:nvPr/>
        </p:nvSpPr>
        <p:spPr>
          <a:xfrm>
            <a:off x="3172968" y="3663086"/>
            <a:ext cx="1563624" cy="219456"/>
          </a:xfrm>
          <a:prstGeom prst="rect">
            <a:avLst/>
          </a:prstGeom>
          <a:noFill/>
          <a:ln/>
        </p:spPr>
        <p:txBody>
          <a:bodyPr wrap="square" lIns="0" tIns="0" rIns="0" bIns="0" rtlCol="0" anchor="ctr"/>
          <a:lstStyle/>
          <a:p>
            <a:pPr algn="ctr" indent="0" marL="0">
              <a:buNone/>
            </a:pPr>
            <a:r>
              <a:rPr lang="en-US" sz="900" dirty="0">
                <a:solidFill>
                  <a:srgbClr val="E0F2FE"/>
                </a:solidFill>
                <a:latin typeface="Calibri" pitchFamily="34" charset="0"/>
                <a:ea typeface="Calibri" pitchFamily="34" charset="-122"/>
                <a:cs typeface="Calibri" pitchFamily="34" charset="-120"/>
              </a:rPr>
              <a:t>Scrape engine</a:t>
            </a:r>
            <a:endParaRPr lang="en-US" sz="900" dirty="0"/>
          </a:p>
        </p:txBody>
      </p:sp>
      <p:sp>
        <p:nvSpPr>
          <p:cNvPr id="31" name="Shape 29"/>
          <p:cNvSpPr/>
          <p:nvPr/>
        </p:nvSpPr>
        <p:spPr>
          <a:xfrm>
            <a:off x="4800600" y="3611880"/>
            <a:ext cx="256032" cy="0"/>
          </a:xfrm>
          <a:prstGeom prst="line">
            <a:avLst/>
          </a:prstGeom>
          <a:noFill/>
          <a:ln w="19050">
            <a:solidFill>
              <a:srgbClr val="94A3B8"/>
            </a:solidFill>
            <a:prstDash val="solid"/>
            <a:tailEnd type="triangle"/>
          </a:ln>
        </p:spPr>
      </p:sp>
      <p:sp>
        <p:nvSpPr>
          <p:cNvPr id="32" name="Shape 30"/>
          <p:cNvSpPr/>
          <p:nvPr/>
        </p:nvSpPr>
        <p:spPr>
          <a:xfrm>
            <a:off x="5056632" y="3246120"/>
            <a:ext cx="2011680" cy="731520"/>
          </a:xfrm>
          <a:prstGeom prst="roundRect">
            <a:avLst>
              <a:gd name="adj" fmla="val 12500"/>
            </a:avLst>
          </a:prstGeom>
          <a:solidFill>
            <a:srgbClr val="0B1220"/>
          </a:solidFill>
          <a:ln/>
          <a:effectLst>
            <a:outerShdw sx="100000" sy="100000" kx="0" ky="0" algn="bl" rotWithShape="0" blurRad="88900" dist="25400" dir="2700000">
              <a:srgbClr val="000000">
                <a:alpha val="12000"/>
              </a:srgbClr>
            </a:outerShdw>
          </a:effectLst>
        </p:spPr>
      </p:sp>
      <p:sp>
        <p:nvSpPr>
          <p:cNvPr id="33" name="Text 31"/>
          <p:cNvSpPr/>
          <p:nvPr/>
        </p:nvSpPr>
        <p:spPr>
          <a:xfrm>
            <a:off x="5120640" y="3355848"/>
            <a:ext cx="1883664"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eCourts API</a:t>
            </a:r>
            <a:endParaRPr lang="en-US" sz="1050" dirty="0"/>
          </a:p>
        </p:txBody>
      </p:sp>
      <p:sp>
        <p:nvSpPr>
          <p:cNvPr id="34" name="Text 32"/>
          <p:cNvSpPr/>
          <p:nvPr/>
        </p:nvSpPr>
        <p:spPr>
          <a:xfrm>
            <a:off x="5120640" y="3663086"/>
            <a:ext cx="1883664" cy="219456"/>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AES-encrypted · per-IP throttled</a:t>
            </a:r>
            <a:endParaRPr lang="en-US" sz="900" dirty="0"/>
          </a:p>
        </p:txBody>
      </p:sp>
      <p:sp>
        <p:nvSpPr>
          <p:cNvPr id="35" name="Shape 33"/>
          <p:cNvSpPr/>
          <p:nvPr/>
        </p:nvSpPr>
        <p:spPr>
          <a:xfrm>
            <a:off x="3954780" y="3977640"/>
            <a:ext cx="0" cy="320040"/>
          </a:xfrm>
          <a:prstGeom prst="line">
            <a:avLst/>
          </a:prstGeom>
          <a:noFill/>
          <a:ln w="19050">
            <a:solidFill>
              <a:srgbClr val="94A3B8"/>
            </a:solidFill>
            <a:prstDash val="solid"/>
            <a:tailEnd type="triangle"/>
          </a:ln>
        </p:spPr>
      </p:sp>
      <p:sp>
        <p:nvSpPr>
          <p:cNvPr id="36" name="Shape 34"/>
          <p:cNvSpPr/>
          <p:nvPr/>
        </p:nvSpPr>
        <p:spPr>
          <a:xfrm>
            <a:off x="3108960" y="4297680"/>
            <a:ext cx="1691640" cy="594360"/>
          </a:xfrm>
          <a:prstGeom prst="roundRect">
            <a:avLst>
              <a:gd name="adj" fmla="val 15385"/>
            </a:avLst>
          </a:prstGeom>
          <a:solidFill>
            <a:srgbClr val="F5F3FF"/>
          </a:solidFill>
          <a:ln/>
          <a:effectLst>
            <a:outerShdw sx="100000" sy="100000" kx="0" ky="0" algn="bl" rotWithShape="0" blurRad="88900" dist="25400" dir="2700000">
              <a:srgbClr val="000000">
                <a:alpha val="12000"/>
              </a:srgbClr>
            </a:outerShdw>
          </a:effectLst>
        </p:spPr>
      </p:sp>
      <p:sp>
        <p:nvSpPr>
          <p:cNvPr id="37" name="Text 35"/>
          <p:cNvSpPr/>
          <p:nvPr/>
        </p:nvSpPr>
        <p:spPr>
          <a:xfrm>
            <a:off x="3172968" y="4386834"/>
            <a:ext cx="1563624" cy="274320"/>
          </a:xfrm>
          <a:prstGeom prst="rect">
            <a:avLst/>
          </a:prstGeom>
          <a:noFill/>
          <a:ln/>
        </p:spPr>
        <p:txBody>
          <a:bodyPr wrap="square" lIns="0" tIns="0" rIns="0" bIns="0" rtlCol="0" anchor="ctr"/>
          <a:lstStyle/>
          <a:p>
            <a:pPr algn="ctr" indent="0" marL="0">
              <a:buNone/>
            </a:pPr>
            <a:r>
              <a:rPr lang="en-US" sz="1050" b="1" dirty="0">
                <a:solidFill>
                  <a:srgbClr val="1A3560"/>
                </a:solidFill>
                <a:latin typeface="Calibri" pitchFamily="34" charset="0"/>
                <a:ea typeface="Calibri" pitchFamily="34" charset="-122"/>
                <a:cs typeface="Calibri" pitchFamily="34" charset="-120"/>
              </a:rPr>
              <a:t>/data Volume</a:t>
            </a:r>
            <a:endParaRPr lang="en-US" sz="1050" dirty="0"/>
          </a:p>
        </p:txBody>
      </p:sp>
      <p:sp>
        <p:nvSpPr>
          <p:cNvPr id="38" name="Text 36"/>
          <p:cNvSpPr/>
          <p:nvPr/>
        </p:nvSpPr>
        <p:spPr>
          <a:xfrm>
            <a:off x="3172968" y="4636465"/>
            <a:ext cx="1563624" cy="219456"/>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results JSON files</a:t>
            </a:r>
            <a:endParaRPr lang="en-US" sz="900" dirty="0"/>
          </a:p>
        </p:txBody>
      </p:sp>
      <p:sp>
        <p:nvSpPr>
          <p:cNvPr id="39" name="Shape 37"/>
          <p:cNvSpPr/>
          <p:nvPr/>
        </p:nvSpPr>
        <p:spPr>
          <a:xfrm>
            <a:off x="3108960" y="4594860"/>
            <a:ext cx="-91440" cy="-2747772"/>
          </a:xfrm>
          <a:prstGeom prst="line">
            <a:avLst/>
          </a:prstGeom>
          <a:noFill/>
          <a:ln w="15240">
            <a:solidFill>
              <a:srgbClr val="A78BFA"/>
            </a:solidFill>
            <a:prstDash val="dash"/>
            <a:tailEnd type="triangle"/>
          </a:ln>
        </p:spPr>
      </p:sp>
      <p:sp>
        <p:nvSpPr>
          <p:cNvPr id="40" name="Text 38"/>
          <p:cNvSpPr/>
          <p:nvPr/>
        </p:nvSpPr>
        <p:spPr>
          <a:xfrm>
            <a:off x="1828800" y="2880360"/>
            <a:ext cx="1143000" cy="237744"/>
          </a:xfrm>
          <a:prstGeom prst="rect">
            <a:avLst/>
          </a:prstGeom>
          <a:noFill/>
          <a:ln/>
        </p:spPr>
        <p:txBody>
          <a:bodyPr wrap="square" rtlCol="0" anchor="ctr"/>
          <a:lstStyle/>
          <a:p>
            <a:pPr indent="0" marL="0">
              <a:buNone/>
            </a:pPr>
            <a:r>
              <a:rPr lang="en-US" sz="850" i="1" dirty="0">
                <a:solidFill>
                  <a:srgbClr val="7C3AED"/>
                </a:solidFill>
                <a:latin typeface="Calibri" pitchFamily="34" charset="0"/>
                <a:ea typeface="Calibri" pitchFamily="34" charset="-122"/>
                <a:cs typeface="Calibri" pitchFamily="34" charset="-120"/>
              </a:rPr>
              <a:t>reads for CSV</a:t>
            </a:r>
            <a:endParaRPr lang="en-US" sz="850" dirty="0"/>
          </a:p>
        </p:txBody>
      </p:sp>
      <p:sp>
        <p:nvSpPr>
          <p:cNvPr id="41" name="Shape 39"/>
          <p:cNvSpPr/>
          <p:nvPr/>
        </p:nvSpPr>
        <p:spPr>
          <a:xfrm>
            <a:off x="5056632" y="4297680"/>
            <a:ext cx="3794760" cy="594360"/>
          </a:xfrm>
          <a:prstGeom prst="roundRect">
            <a:avLst>
              <a:gd name="adj" fmla="val 10769"/>
            </a:avLst>
          </a:prstGeom>
          <a:solidFill>
            <a:srgbClr val="FEF3C7"/>
          </a:solidFill>
          <a:ln/>
        </p:spPr>
      </p:sp>
      <p:sp>
        <p:nvSpPr>
          <p:cNvPr id="42" name="Text 40"/>
          <p:cNvSpPr/>
          <p:nvPr/>
        </p:nvSpPr>
        <p:spPr>
          <a:xfrm>
            <a:off x="5148072" y="4325112"/>
            <a:ext cx="3611880" cy="530352"/>
          </a:xfrm>
          <a:prstGeom prst="rect">
            <a:avLst/>
          </a:prstGeom>
          <a:noFill/>
          <a:ln/>
        </p:spPr>
        <p:txBody>
          <a:bodyPr wrap="square" rtlCol="0" anchor="ctr"/>
          <a:lstStyle/>
          <a:p>
            <a:pPr indent="0" marL="0">
              <a:buNone/>
            </a:pPr>
            <a:r>
              <a:rPr lang="en-US" sz="900" dirty="0">
                <a:solidFill>
                  <a:srgbClr val="92400E"/>
                </a:solidFill>
                <a:latin typeface="Calibri" pitchFamily="34" charset="0"/>
                <a:ea typeface="Calibri" pitchFamily="34" charset="-122"/>
                <a:cs typeface="Calibri" pitchFamily="34" charset="-120"/>
              </a:rPr>
              <a:t>🔑  AES-CBC encrypted (constants reverse-engineered from eCourts mobile app)</a:t>
            </a:r>
            <a:endParaRPr lang="en-US" sz="900" dirty="0"/>
          </a:p>
          <a:p>
            <a:pPr indent="0" marL="0">
              <a:buNone/>
            </a:pPr>
            <a:r>
              <a:rPr lang="en-US" sz="900" dirty="0">
                <a:solidFill>
                  <a:srgbClr val="92400E"/>
                </a:solidFill>
                <a:latin typeface="Calibri" pitchFamily="34" charset="0"/>
                <a:ea typeface="Calibri" pitchFamily="34" charset="-122"/>
                <a:cs typeface="Calibri" pitchFamily="34" charset="-120"/>
              </a:rPr>
              <a:t>Token auto-rotates every 5 min · Retries 3× with 30s/60s backoff on throttle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28600"/>
            <a:ext cx="8229600" cy="530352"/>
          </a:xfrm>
          <a:prstGeom prst="rect">
            <a:avLst/>
          </a:prstGeom>
          <a:noFill/>
          <a:ln/>
        </p:spPr>
        <p:txBody>
          <a:bodyPr wrap="square" rtlCol="0" anchor="ctr"/>
          <a:lstStyle/>
          <a:p>
            <a:pPr indent="0" marL="0">
              <a:buNone/>
            </a:pPr>
            <a:r>
              <a:rPr lang="en-US" sz="2800" b="1" dirty="0">
                <a:solidFill>
                  <a:srgbClr val="1A3560"/>
                </a:solidFill>
                <a:latin typeface="Cambria" pitchFamily="34" charset="0"/>
                <a:ea typeface="Cambria" pitchFamily="34" charset="-122"/>
                <a:cs typeface="Cambria" pitchFamily="34" charset="-120"/>
              </a:rPr>
              <a:t>Tech Stack — Today vs. AWS Target</a:t>
            </a:r>
            <a:endParaRPr lang="en-US" sz="2800" dirty="0"/>
          </a:p>
        </p:txBody>
      </p:sp>
      <p:sp>
        <p:nvSpPr>
          <p:cNvPr id="3" name="Shape 1"/>
          <p:cNvSpPr/>
          <p:nvPr/>
        </p:nvSpPr>
        <p:spPr>
          <a:xfrm>
            <a:off x="365760" y="896112"/>
            <a:ext cx="3931920" cy="4023360"/>
          </a:xfrm>
          <a:prstGeom prst="roundRect">
            <a:avLst>
              <a:gd name="adj" fmla="val 2791"/>
            </a:avLst>
          </a:prstGeom>
          <a:solidFill>
            <a:srgbClr val="FFFFFF"/>
          </a:solidFill>
          <a:ln/>
          <a:effectLst>
            <a:outerShdw sx="100000" sy="100000" kx="0" ky="0" algn="bl" rotWithShape="0" blurRad="88900" dist="25400" dir="2700000">
              <a:srgbClr val="000000">
                <a:alpha val="12000"/>
              </a:srgbClr>
            </a:outerShdw>
          </a:effectLst>
        </p:spPr>
      </p:sp>
      <p:sp>
        <p:nvSpPr>
          <p:cNvPr id="4" name="Text 2"/>
          <p:cNvSpPr/>
          <p:nvPr/>
        </p:nvSpPr>
        <p:spPr>
          <a:xfrm>
            <a:off x="548640" y="1024128"/>
            <a:ext cx="3566160" cy="347472"/>
          </a:xfrm>
          <a:prstGeom prst="rect">
            <a:avLst/>
          </a:prstGeom>
          <a:noFill/>
          <a:ln/>
        </p:spPr>
        <p:txBody>
          <a:bodyPr wrap="square" rtlCol="0" anchor="ctr"/>
          <a:lstStyle/>
          <a:p>
            <a:pPr indent="0" marL="0">
              <a:buNone/>
            </a:pPr>
            <a:r>
              <a:rPr lang="en-US" sz="1300" b="1" dirty="0">
                <a:solidFill>
                  <a:srgbClr val="1A3560"/>
                </a:solidFill>
                <a:latin typeface="Calibri" pitchFamily="34" charset="0"/>
                <a:ea typeface="Calibri" pitchFamily="34" charset="-122"/>
                <a:cs typeface="Calibri" pitchFamily="34" charset="-120"/>
              </a:rPr>
              <a:t>TODAY — Single Host</a:t>
            </a:r>
            <a:endParaRPr lang="en-US" sz="1300" dirty="0"/>
          </a:p>
        </p:txBody>
      </p:sp>
      <p:sp>
        <p:nvSpPr>
          <p:cNvPr id="5" name="Text 3"/>
          <p:cNvSpPr/>
          <p:nvPr/>
        </p:nvSpPr>
        <p:spPr>
          <a:xfrm>
            <a:off x="566928" y="1481328"/>
            <a:ext cx="3566160" cy="402336"/>
          </a:xfrm>
          <a:prstGeom prst="rect">
            <a:avLst/>
          </a:prstGeom>
          <a:noFill/>
          <a:ln/>
        </p:spPr>
        <p:txBody>
          <a:bodyPr wrap="square" rtlCol="0" anchor="ctr"/>
          <a:lstStyle/>
          <a:p>
            <a:pPr indent="0" marL="0">
              <a:buNone/>
            </a:pPr>
            <a:r>
              <a:rPr lang="en-US" sz="1150" dirty="0">
                <a:solidFill>
                  <a:srgbClr val="0F172A"/>
                </a:solidFill>
                <a:latin typeface="Calibri" pitchFamily="34" charset="0"/>
                <a:ea typeface="Calibri" pitchFamily="34" charset="-122"/>
                <a:cs typeface="Calibri" pitchFamily="34" charset="-120"/>
              </a:rPr>
              <a:t>🐍  Python · Django · FastAPI</a:t>
            </a:r>
            <a:endParaRPr lang="en-US" sz="1150" dirty="0"/>
          </a:p>
        </p:txBody>
      </p:sp>
      <p:sp>
        <p:nvSpPr>
          <p:cNvPr id="6" name="Text 4"/>
          <p:cNvSpPr/>
          <p:nvPr/>
        </p:nvSpPr>
        <p:spPr>
          <a:xfrm>
            <a:off x="566928" y="1938528"/>
            <a:ext cx="3566160" cy="402336"/>
          </a:xfrm>
          <a:prstGeom prst="rect">
            <a:avLst/>
          </a:prstGeom>
          <a:noFill/>
          <a:ln/>
        </p:spPr>
        <p:txBody>
          <a:bodyPr wrap="square" rtlCol="0" anchor="ctr"/>
          <a:lstStyle/>
          <a:p>
            <a:pPr indent="0" marL="0">
              <a:buNone/>
            </a:pPr>
            <a:r>
              <a:rPr lang="en-US" sz="1150" dirty="0">
                <a:solidFill>
                  <a:srgbClr val="0F172A"/>
                </a:solidFill>
                <a:latin typeface="Calibri" pitchFamily="34" charset="0"/>
                <a:ea typeface="Calibri" pitchFamily="34" charset="-122"/>
                <a:cs typeface="Calibri" pitchFamily="34" charset="-120"/>
              </a:rPr>
              <a:t>🥬  Celery + Redis  (async jobs)</a:t>
            </a:r>
            <a:endParaRPr lang="en-US" sz="1150" dirty="0"/>
          </a:p>
        </p:txBody>
      </p:sp>
      <p:sp>
        <p:nvSpPr>
          <p:cNvPr id="7" name="Text 5"/>
          <p:cNvSpPr/>
          <p:nvPr/>
        </p:nvSpPr>
        <p:spPr>
          <a:xfrm>
            <a:off x="566928" y="2395728"/>
            <a:ext cx="3566160" cy="402336"/>
          </a:xfrm>
          <a:prstGeom prst="rect">
            <a:avLst/>
          </a:prstGeom>
          <a:noFill/>
          <a:ln/>
        </p:spPr>
        <p:txBody>
          <a:bodyPr wrap="square" rtlCol="0" anchor="ctr"/>
          <a:lstStyle/>
          <a:p>
            <a:pPr indent="0" marL="0">
              <a:buNone/>
            </a:pPr>
            <a:r>
              <a:rPr lang="en-US" sz="1150" dirty="0">
                <a:solidFill>
                  <a:srgbClr val="0F172A"/>
                </a:solidFill>
                <a:latin typeface="Calibri" pitchFamily="34" charset="0"/>
                <a:ea typeface="Calibri" pitchFamily="34" charset="-122"/>
                <a:cs typeface="Calibri" pitchFamily="34" charset="-120"/>
              </a:rPr>
              <a:t>🐘  PostgreSQL  (metadata only)</a:t>
            </a:r>
            <a:endParaRPr lang="en-US" sz="1150" dirty="0"/>
          </a:p>
        </p:txBody>
      </p:sp>
      <p:sp>
        <p:nvSpPr>
          <p:cNvPr id="8" name="Text 6"/>
          <p:cNvSpPr/>
          <p:nvPr/>
        </p:nvSpPr>
        <p:spPr>
          <a:xfrm>
            <a:off x="566928" y="2852928"/>
            <a:ext cx="3566160" cy="402336"/>
          </a:xfrm>
          <a:prstGeom prst="rect">
            <a:avLst/>
          </a:prstGeom>
          <a:noFill/>
          <a:ln/>
        </p:spPr>
        <p:txBody>
          <a:bodyPr wrap="square" rtlCol="0" anchor="ctr"/>
          <a:lstStyle/>
          <a:p>
            <a:pPr indent="0" marL="0">
              <a:buNone/>
            </a:pPr>
            <a:r>
              <a:rPr lang="en-US" sz="1150" dirty="0">
                <a:solidFill>
                  <a:srgbClr val="0F172A"/>
                </a:solidFill>
                <a:latin typeface="Calibri" pitchFamily="34" charset="0"/>
                <a:ea typeface="Calibri" pitchFamily="34" charset="-122"/>
                <a:cs typeface="Calibri" pitchFamily="34" charset="-120"/>
              </a:rPr>
              <a:t>🐳  Docker Compose  (8 containers)</a:t>
            </a:r>
            <a:endParaRPr lang="en-US" sz="1150" dirty="0"/>
          </a:p>
        </p:txBody>
      </p:sp>
      <p:sp>
        <p:nvSpPr>
          <p:cNvPr id="9" name="Text 7"/>
          <p:cNvSpPr/>
          <p:nvPr/>
        </p:nvSpPr>
        <p:spPr>
          <a:xfrm>
            <a:off x="566928" y="3310128"/>
            <a:ext cx="3566160" cy="402336"/>
          </a:xfrm>
          <a:prstGeom prst="rect">
            <a:avLst/>
          </a:prstGeom>
          <a:noFill/>
          <a:ln/>
        </p:spPr>
        <p:txBody>
          <a:bodyPr wrap="square" rtlCol="0" anchor="ctr"/>
          <a:lstStyle/>
          <a:p>
            <a:pPr indent="0" marL="0">
              <a:buNone/>
            </a:pPr>
            <a:r>
              <a:rPr lang="en-US" sz="1150" dirty="0">
                <a:solidFill>
                  <a:srgbClr val="0F172A"/>
                </a:solidFill>
                <a:latin typeface="Calibri" pitchFamily="34" charset="0"/>
                <a:ea typeface="Calibri" pitchFamily="34" charset="-122"/>
                <a:cs typeface="Calibri" pitchFamily="34" charset="-120"/>
              </a:rPr>
              <a:t>🕷  Scrapy / Interface.py  (eCourts)</a:t>
            </a:r>
            <a:endParaRPr lang="en-US" sz="1150" dirty="0"/>
          </a:p>
        </p:txBody>
      </p:sp>
      <p:sp>
        <p:nvSpPr>
          <p:cNvPr id="10" name="Text 8"/>
          <p:cNvSpPr/>
          <p:nvPr/>
        </p:nvSpPr>
        <p:spPr>
          <a:xfrm>
            <a:off x="566928" y="3767328"/>
            <a:ext cx="3566160" cy="402336"/>
          </a:xfrm>
          <a:prstGeom prst="rect">
            <a:avLst/>
          </a:prstGeom>
          <a:noFill/>
          <a:ln/>
        </p:spPr>
        <p:txBody>
          <a:bodyPr wrap="square" rtlCol="0" anchor="ctr"/>
          <a:lstStyle/>
          <a:p>
            <a:pPr indent="0" marL="0">
              <a:buNone/>
            </a:pPr>
            <a:r>
              <a:rPr lang="en-US" sz="1150" dirty="0">
                <a:solidFill>
                  <a:srgbClr val="0F172A"/>
                </a:solidFill>
                <a:latin typeface="Calibri" pitchFamily="34" charset="0"/>
                <a:ea typeface="Calibri" pitchFamily="34" charset="-122"/>
                <a:cs typeface="Calibri" pitchFamily="34" charset="-120"/>
              </a:rPr>
              <a:t>⚓  Caddy  (TLS reverse proxy)</a:t>
            </a:r>
            <a:endParaRPr lang="en-US" sz="1150" dirty="0"/>
          </a:p>
        </p:txBody>
      </p:sp>
      <p:sp>
        <p:nvSpPr>
          <p:cNvPr id="11" name="Text 9"/>
          <p:cNvSpPr/>
          <p:nvPr/>
        </p:nvSpPr>
        <p:spPr>
          <a:xfrm>
            <a:off x="566928" y="4224528"/>
            <a:ext cx="3566160" cy="402336"/>
          </a:xfrm>
          <a:prstGeom prst="rect">
            <a:avLst/>
          </a:prstGeom>
          <a:noFill/>
          <a:ln/>
        </p:spPr>
        <p:txBody>
          <a:bodyPr wrap="square" rtlCol="0" anchor="ctr"/>
          <a:lstStyle/>
          <a:p>
            <a:pPr indent="0" marL="0">
              <a:buNone/>
            </a:pPr>
            <a:r>
              <a:rPr lang="en-US" sz="1150" dirty="0">
                <a:solidFill>
                  <a:srgbClr val="0F172A"/>
                </a:solidFill>
                <a:latin typeface="Calibri" pitchFamily="34" charset="0"/>
                <a:ea typeface="Calibri" pitchFamily="34" charset="-122"/>
                <a:cs typeface="Calibri" pitchFamily="34" charset="-120"/>
              </a:rPr>
              <a:t>📁  Local /data volume  (JSON results)</a:t>
            </a:r>
            <a:endParaRPr lang="en-US" sz="1150" dirty="0"/>
          </a:p>
        </p:txBody>
      </p:sp>
      <p:sp>
        <p:nvSpPr>
          <p:cNvPr id="12" name="Shape 10"/>
          <p:cNvSpPr/>
          <p:nvPr/>
        </p:nvSpPr>
        <p:spPr>
          <a:xfrm>
            <a:off x="4297680" y="2926080"/>
            <a:ext cx="457200" cy="0"/>
          </a:xfrm>
          <a:prstGeom prst="line">
            <a:avLst/>
          </a:prstGeom>
          <a:noFill/>
          <a:ln w="31750">
            <a:solidFill>
              <a:srgbClr val="0EA5E9"/>
            </a:solidFill>
            <a:prstDash val="solid"/>
            <a:tailEnd type="triangle"/>
          </a:ln>
        </p:spPr>
      </p:sp>
      <p:sp>
        <p:nvSpPr>
          <p:cNvPr id="13" name="Shape 11"/>
          <p:cNvSpPr/>
          <p:nvPr/>
        </p:nvSpPr>
        <p:spPr>
          <a:xfrm>
            <a:off x="4846320" y="896112"/>
            <a:ext cx="3931920" cy="4023360"/>
          </a:xfrm>
          <a:prstGeom prst="roundRect">
            <a:avLst>
              <a:gd name="adj" fmla="val 2791"/>
            </a:avLst>
          </a:prstGeom>
          <a:solidFill>
            <a:srgbClr val="EFF6FF"/>
          </a:solidFill>
          <a:ln/>
          <a:effectLst>
            <a:outerShdw sx="100000" sy="100000" kx="0" ky="0" algn="bl" rotWithShape="0" blurRad="88900" dist="25400" dir="2700000">
              <a:srgbClr val="000000">
                <a:alpha val="12000"/>
              </a:srgbClr>
            </a:outerShdw>
          </a:effectLst>
        </p:spPr>
      </p:sp>
      <p:sp>
        <p:nvSpPr>
          <p:cNvPr id="14" name="Text 12"/>
          <p:cNvSpPr/>
          <p:nvPr/>
        </p:nvSpPr>
        <p:spPr>
          <a:xfrm>
            <a:off x="5029200" y="1024128"/>
            <a:ext cx="3566160" cy="347472"/>
          </a:xfrm>
          <a:prstGeom prst="rect">
            <a:avLst/>
          </a:prstGeom>
          <a:noFill/>
          <a:ln/>
        </p:spPr>
        <p:txBody>
          <a:bodyPr wrap="square" rtlCol="0" anchor="ctr"/>
          <a:lstStyle/>
          <a:p>
            <a:pPr indent="0" marL="0">
              <a:buNone/>
            </a:pPr>
            <a:r>
              <a:rPr lang="en-US" sz="1300" b="1" dirty="0">
                <a:solidFill>
                  <a:srgbClr val="1D4ED8"/>
                </a:solidFill>
                <a:latin typeface="Calibri" pitchFamily="34" charset="0"/>
                <a:ea typeface="Calibri" pitchFamily="34" charset="-122"/>
                <a:cs typeface="Calibri" pitchFamily="34" charset="-120"/>
              </a:rPr>
              <a:t>TARGET — AWS (JP Morgan)</a:t>
            </a:r>
            <a:endParaRPr lang="en-US" sz="1300" dirty="0"/>
          </a:p>
        </p:txBody>
      </p:sp>
      <p:sp>
        <p:nvSpPr>
          <p:cNvPr id="15" name="Text 13"/>
          <p:cNvSpPr/>
          <p:nvPr/>
        </p:nvSpPr>
        <p:spPr>
          <a:xfrm>
            <a:off x="5029200" y="1481328"/>
            <a:ext cx="3566160" cy="402336"/>
          </a:xfrm>
          <a:prstGeom prst="rect">
            <a:avLst/>
          </a:prstGeom>
          <a:noFill/>
          <a:ln/>
        </p:spPr>
        <p:txBody>
          <a:bodyPr wrap="square" rtlCol="0" anchor="ctr"/>
          <a:lstStyle/>
          <a:p>
            <a:pPr indent="0" marL="0">
              <a:buNone/>
            </a:pPr>
            <a:r>
              <a:rPr lang="en-US" sz="1150" dirty="0">
                <a:solidFill>
                  <a:srgbClr val="0F172A"/>
                </a:solidFill>
                <a:latin typeface="Calibri" pitchFamily="34" charset="0"/>
                <a:ea typeface="Calibri" pitchFamily="34" charset="-122"/>
                <a:cs typeface="Calibri" pitchFamily="34" charset="-120"/>
              </a:rPr>
              <a:t>⚛️  React + Next.js  (frontend)</a:t>
            </a:r>
            <a:endParaRPr lang="en-US" sz="1150" dirty="0"/>
          </a:p>
        </p:txBody>
      </p:sp>
      <p:sp>
        <p:nvSpPr>
          <p:cNvPr id="16" name="Text 14"/>
          <p:cNvSpPr/>
          <p:nvPr/>
        </p:nvSpPr>
        <p:spPr>
          <a:xfrm>
            <a:off x="5029200" y="1938528"/>
            <a:ext cx="3566160" cy="402336"/>
          </a:xfrm>
          <a:prstGeom prst="rect">
            <a:avLst/>
          </a:prstGeom>
          <a:noFill/>
          <a:ln/>
        </p:spPr>
        <p:txBody>
          <a:bodyPr wrap="square" rtlCol="0" anchor="ctr"/>
          <a:lstStyle/>
          <a:p>
            <a:pPr indent="0" marL="0">
              <a:buNone/>
            </a:pPr>
            <a:r>
              <a:rPr lang="en-US" sz="1150" dirty="0">
                <a:solidFill>
                  <a:srgbClr val="0F172A"/>
                </a:solidFill>
                <a:latin typeface="Calibri" pitchFamily="34" charset="0"/>
                <a:ea typeface="Calibri" pitchFamily="34" charset="-122"/>
                <a:cs typeface="Calibri" pitchFamily="34" charset="-120"/>
              </a:rPr>
              <a:t>🐍  FastAPI  (backend)</a:t>
            </a:r>
            <a:endParaRPr lang="en-US" sz="1150" dirty="0"/>
          </a:p>
        </p:txBody>
      </p:sp>
      <p:sp>
        <p:nvSpPr>
          <p:cNvPr id="17" name="Text 15"/>
          <p:cNvSpPr/>
          <p:nvPr/>
        </p:nvSpPr>
        <p:spPr>
          <a:xfrm>
            <a:off x="5029200" y="2395728"/>
            <a:ext cx="3566160" cy="402336"/>
          </a:xfrm>
          <a:prstGeom prst="rect">
            <a:avLst/>
          </a:prstGeom>
          <a:noFill/>
          <a:ln/>
        </p:spPr>
        <p:txBody>
          <a:bodyPr wrap="square" rtlCol="0" anchor="ctr"/>
          <a:lstStyle/>
          <a:p>
            <a:pPr indent="0" marL="0">
              <a:buNone/>
            </a:pPr>
            <a:r>
              <a:rPr lang="en-US" sz="1150" dirty="0">
                <a:solidFill>
                  <a:srgbClr val="0F172A"/>
                </a:solidFill>
                <a:latin typeface="Calibri" pitchFamily="34" charset="0"/>
                <a:ea typeface="Calibri" pitchFamily="34" charset="-122"/>
                <a:cs typeface="Calibri" pitchFamily="34" charset="-120"/>
              </a:rPr>
              <a:t>☁️  EC2 t3.medium  (UI + scraper)</a:t>
            </a:r>
            <a:endParaRPr lang="en-US" sz="1150" dirty="0"/>
          </a:p>
        </p:txBody>
      </p:sp>
      <p:sp>
        <p:nvSpPr>
          <p:cNvPr id="18" name="Text 16"/>
          <p:cNvSpPr/>
          <p:nvPr/>
        </p:nvSpPr>
        <p:spPr>
          <a:xfrm>
            <a:off x="5029200" y="2852928"/>
            <a:ext cx="3566160" cy="402336"/>
          </a:xfrm>
          <a:prstGeom prst="rect">
            <a:avLst/>
          </a:prstGeom>
          <a:noFill/>
          <a:ln/>
        </p:spPr>
        <p:txBody>
          <a:bodyPr wrap="square" rtlCol="0" anchor="ctr"/>
          <a:lstStyle/>
          <a:p>
            <a:pPr indent="0" marL="0">
              <a:buNone/>
            </a:pPr>
            <a:r>
              <a:rPr lang="en-US" sz="1150" dirty="0">
                <a:solidFill>
                  <a:srgbClr val="0F172A"/>
                </a:solidFill>
                <a:latin typeface="Calibri" pitchFamily="34" charset="0"/>
                <a:ea typeface="Calibri" pitchFamily="34" charset="-122"/>
                <a:cs typeface="Calibri" pitchFamily="34" charset="-120"/>
              </a:rPr>
              <a:t>🗄  RDS PostgreSQL  (managed, PITR)</a:t>
            </a:r>
            <a:endParaRPr lang="en-US" sz="1150" dirty="0"/>
          </a:p>
        </p:txBody>
      </p:sp>
      <p:sp>
        <p:nvSpPr>
          <p:cNvPr id="19" name="Text 17"/>
          <p:cNvSpPr/>
          <p:nvPr/>
        </p:nvSpPr>
        <p:spPr>
          <a:xfrm>
            <a:off x="5029200" y="3310128"/>
            <a:ext cx="3566160" cy="402336"/>
          </a:xfrm>
          <a:prstGeom prst="rect">
            <a:avLst/>
          </a:prstGeom>
          <a:noFill/>
          <a:ln/>
        </p:spPr>
        <p:txBody>
          <a:bodyPr wrap="square" rtlCol="0" anchor="ctr"/>
          <a:lstStyle/>
          <a:p>
            <a:pPr indent="0" marL="0">
              <a:buNone/>
            </a:pPr>
            <a:r>
              <a:rPr lang="en-US" sz="1150" dirty="0">
                <a:solidFill>
                  <a:srgbClr val="0F172A"/>
                </a:solidFill>
                <a:latin typeface="Calibri" pitchFamily="34" charset="0"/>
                <a:ea typeface="Calibri" pitchFamily="34" charset="-122"/>
                <a:cs typeface="Calibri" pitchFamily="34" charset="-120"/>
              </a:rPr>
              <a:t>🪣  S3 Standard  (results + cached PDFs)</a:t>
            </a:r>
            <a:endParaRPr lang="en-US" sz="1150" dirty="0"/>
          </a:p>
        </p:txBody>
      </p:sp>
      <p:sp>
        <p:nvSpPr>
          <p:cNvPr id="20" name="Text 18"/>
          <p:cNvSpPr/>
          <p:nvPr/>
        </p:nvSpPr>
        <p:spPr>
          <a:xfrm>
            <a:off x="5029200" y="3767328"/>
            <a:ext cx="3566160" cy="402336"/>
          </a:xfrm>
          <a:prstGeom prst="rect">
            <a:avLst/>
          </a:prstGeom>
          <a:noFill/>
          <a:ln/>
        </p:spPr>
        <p:txBody>
          <a:bodyPr wrap="square" rtlCol="0" anchor="ctr"/>
          <a:lstStyle/>
          <a:p>
            <a:pPr indent="0" marL="0">
              <a:buNone/>
            </a:pPr>
            <a:r>
              <a:rPr lang="en-US" sz="1150" dirty="0">
                <a:solidFill>
                  <a:srgbClr val="0F172A"/>
                </a:solidFill>
                <a:latin typeface="Calibri" pitchFamily="34" charset="0"/>
                <a:ea typeface="Calibri" pitchFamily="34" charset="-122"/>
                <a:cs typeface="Calibri" pitchFamily="34" charset="-120"/>
              </a:rPr>
              <a:t>⚡  EventBridge  (scheduler / canary)</a:t>
            </a:r>
            <a:endParaRPr lang="en-US" sz="1150" dirty="0"/>
          </a:p>
        </p:txBody>
      </p:sp>
      <p:sp>
        <p:nvSpPr>
          <p:cNvPr id="21" name="Text 19"/>
          <p:cNvSpPr/>
          <p:nvPr/>
        </p:nvSpPr>
        <p:spPr>
          <a:xfrm>
            <a:off x="5029200" y="4224528"/>
            <a:ext cx="3566160" cy="402336"/>
          </a:xfrm>
          <a:prstGeom prst="rect">
            <a:avLst/>
          </a:prstGeom>
          <a:noFill/>
          <a:ln/>
        </p:spPr>
        <p:txBody>
          <a:bodyPr wrap="square" rtlCol="0" anchor="ctr"/>
          <a:lstStyle/>
          <a:p>
            <a:pPr indent="0" marL="0">
              <a:buNone/>
            </a:pPr>
            <a:r>
              <a:rPr lang="en-US" sz="1150" dirty="0">
                <a:solidFill>
                  <a:srgbClr val="0F172A"/>
                </a:solidFill>
                <a:latin typeface="Calibri" pitchFamily="34" charset="0"/>
                <a:ea typeface="Calibri" pitchFamily="34" charset="-122"/>
                <a:cs typeface="Calibri" pitchFamily="34" charset="-120"/>
              </a:rPr>
              <a:t>🔐  Secrets Manager · CloudWatch</a:t>
            </a:r>
            <a:endParaRPr lang="en-US" sz="1150" dirty="0"/>
          </a:p>
        </p:txBody>
      </p:sp>
      <p:sp>
        <p:nvSpPr>
          <p:cNvPr id="22" name="Shape 20"/>
          <p:cNvSpPr/>
          <p:nvPr/>
        </p:nvSpPr>
        <p:spPr>
          <a:xfrm>
            <a:off x="365760" y="4800600"/>
            <a:ext cx="8412480" cy="256032"/>
          </a:xfrm>
          <a:prstGeom prst="roundRect">
            <a:avLst>
              <a:gd name="adj" fmla="val 21429"/>
            </a:avLst>
          </a:prstGeom>
          <a:solidFill>
            <a:srgbClr val="DCFCE7"/>
          </a:solidFill>
          <a:ln/>
        </p:spPr>
      </p:sp>
      <p:sp>
        <p:nvSpPr>
          <p:cNvPr id="23" name="Text 21"/>
          <p:cNvSpPr/>
          <p:nvPr/>
        </p:nvSpPr>
        <p:spPr>
          <a:xfrm>
            <a:off x="502920" y="4818888"/>
            <a:ext cx="8229600" cy="219456"/>
          </a:xfrm>
          <a:prstGeom prst="rect">
            <a:avLst/>
          </a:prstGeom>
          <a:noFill/>
          <a:ln/>
        </p:spPr>
        <p:txBody>
          <a:bodyPr wrap="square" rtlCol="0" anchor="ctr"/>
          <a:lstStyle/>
          <a:p>
            <a:pPr indent="0" marL="0">
              <a:buNone/>
            </a:pPr>
            <a:r>
              <a:rPr lang="en-US" sz="950" dirty="0">
                <a:solidFill>
                  <a:srgbClr val="166534"/>
                </a:solidFill>
                <a:latin typeface="Calibri" pitchFamily="34" charset="0"/>
                <a:ea typeface="Calibri" pitchFamily="34" charset="-122"/>
                <a:cs typeface="Calibri" pitchFamily="34" charset="-120"/>
              </a:rPr>
              <a:t>🌐  Accessible from any device with internet · No additional on-premise infra or maintenance needed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Text 0"/>
          <p:cNvSpPr/>
          <p:nvPr/>
        </p:nvSpPr>
        <p:spPr>
          <a:xfrm>
            <a:off x="457200" y="201168"/>
            <a:ext cx="7315200" cy="548640"/>
          </a:xfrm>
          <a:prstGeom prst="rect">
            <a:avLst/>
          </a:prstGeom>
          <a:noFill/>
          <a:ln/>
        </p:spPr>
        <p:txBody>
          <a:bodyPr wrap="square" rtlCol="0" anchor="ctr"/>
          <a:lstStyle/>
          <a:p>
            <a:pPr indent="0" marL="0">
              <a:buNone/>
            </a:pPr>
            <a:r>
              <a:rPr lang="en-US" sz="2500" b="1" dirty="0">
                <a:solidFill>
                  <a:srgbClr val="1A3560"/>
                </a:solidFill>
                <a:latin typeface="Cambria" pitchFamily="34" charset="0"/>
                <a:ea typeface="Cambria" pitchFamily="34" charset="-122"/>
                <a:cs typeface="Cambria" pitchFamily="34" charset="-120"/>
              </a:rPr>
              <a:t>Cost of Ownership — Option B: EC2 + S3 + RDS</a:t>
            </a:r>
            <a:endParaRPr lang="en-US" sz="2500" dirty="0"/>
          </a:p>
        </p:txBody>
      </p:sp>
      <p:sp>
        <p:nvSpPr>
          <p:cNvPr id="3" name="Shape 1"/>
          <p:cNvSpPr/>
          <p:nvPr/>
        </p:nvSpPr>
        <p:spPr>
          <a:xfrm>
            <a:off x="6675120" y="804672"/>
            <a:ext cx="2194560" cy="1143000"/>
          </a:xfrm>
          <a:prstGeom prst="roundRect">
            <a:avLst>
              <a:gd name="adj" fmla="val 9600"/>
            </a:avLst>
          </a:prstGeom>
          <a:solidFill>
            <a:srgbClr val="0D9488"/>
          </a:solidFill>
          <a:ln/>
          <a:effectLst>
            <a:outerShdw sx="100000" sy="100000" kx="0" ky="0" algn="bl" rotWithShape="0" blurRad="88900" dist="25400" dir="2700000">
              <a:srgbClr val="000000">
                <a:alpha val="12000"/>
              </a:srgbClr>
            </a:outerShdw>
          </a:effectLst>
        </p:spPr>
      </p:sp>
      <p:sp>
        <p:nvSpPr>
          <p:cNvPr id="4" name="Text 2"/>
          <p:cNvSpPr/>
          <p:nvPr/>
        </p:nvSpPr>
        <p:spPr>
          <a:xfrm>
            <a:off x="6675120" y="896112"/>
            <a:ext cx="2194560" cy="59436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~₹4,000</a:t>
            </a:r>
            <a:endParaRPr lang="en-US" sz="3000" dirty="0"/>
          </a:p>
        </p:txBody>
      </p:sp>
      <p:sp>
        <p:nvSpPr>
          <p:cNvPr id="5" name="Text 3"/>
          <p:cNvSpPr/>
          <p:nvPr/>
        </p:nvSpPr>
        <p:spPr>
          <a:xfrm>
            <a:off x="6675120" y="1490472"/>
            <a:ext cx="2194560" cy="256032"/>
          </a:xfrm>
          <a:prstGeom prst="rect">
            <a:avLst/>
          </a:prstGeom>
          <a:noFill/>
          <a:ln/>
        </p:spPr>
        <p:txBody>
          <a:bodyPr wrap="square" rtlCol="0" anchor="ctr"/>
          <a:lstStyle/>
          <a:p>
            <a:pPr algn="ctr" indent="0" marL="0">
              <a:buNone/>
            </a:pPr>
            <a:r>
              <a:rPr lang="en-US" sz="1050" dirty="0">
                <a:solidFill>
                  <a:srgbClr val="CCFBF1"/>
                </a:solidFill>
                <a:latin typeface="Calibri" pitchFamily="34" charset="0"/>
                <a:ea typeface="Calibri" pitchFamily="34" charset="-122"/>
                <a:cs typeface="Calibri" pitchFamily="34" charset="-120"/>
              </a:rPr>
              <a:t>/ month (est.)</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822960"/>
          <a:ext cx="6172200" cy="4114800"/>
        </p:xfrm>
        <a:graphic>
          <a:graphicData uri="http://schemas.openxmlformats.org/drawingml/2006/table">
            <a:tbl>
              <a:tblPr/>
              <a:tblGrid>
                <a:gridCol w="1920240"/>
                <a:gridCol w="1783080"/>
                <a:gridCol w="1097280"/>
                <a:gridCol w="1371600"/>
              </a:tblGrid>
              <a:tr h="356616">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Component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56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Spec / Sizing</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56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USD / mo</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560"/>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INR / mo</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3560"/>
                    </a:solidFill>
                  </a:tcPr>
                </a:tc>
              </a:tr>
              <a:tr h="356616">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EC2 t3.medium</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24×7 on-demand (730 hrs)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~$30.70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₹2,885</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56616">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EBS 30 GB gp3</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OS + app + PostgreSQL data</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$2.40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₹228</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56616">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Amazon S3 (100 GB)</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Cumulative result files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$2.30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₹219</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56616">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S3 GET/PUT requests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~100K req/month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$0.18</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56616">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EC2 AMI snapshots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Weekly, ~30 GB</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$1.50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₹143</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56616">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Data transfer out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~10 GB (via CloudFront)</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$0.90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₹86</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56616">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Route 53 + ACM</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1 hosted zone + SSL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$0.50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₹48</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56616">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EventBridge + SES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Scheduler + ~1K emails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~$0.10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56616">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CloudWatch</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2–3 critical alarms</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00" dirty="0">
                          <a:solidFill>
                            <a:srgbClr val="0F172A"/>
                          </a:solidFill>
                          <a:latin typeface="Calibri" pitchFamily="34" charset="0"/>
                          <a:ea typeface="Calibri" pitchFamily="34" charset="-122"/>
                          <a:cs typeface="Calibri" pitchFamily="34" charset="-120"/>
                        </a:rPr>
                        <a:t>~₹95</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56616">
                <a:tc>
                  <a:txBody>
                    <a:bodyPr/>
                    <a:lstStyle/>
                    <a:p>
                      <a:pPr indent="0" marL="0">
                        <a:buNone/>
                      </a:pPr>
                      <a:r>
                        <a:rPr lang="en-US" sz="1000" b="1" dirty="0">
                          <a:solidFill>
                            <a:srgbClr val="1A3560"/>
                          </a:solidFill>
                          <a:latin typeface="Calibri" pitchFamily="34" charset="0"/>
                          <a:ea typeface="Calibri" pitchFamily="34" charset="-122"/>
                          <a:cs typeface="Calibri" pitchFamily="34" charset="-120"/>
                        </a:rPr>
                        <a:t>TOTAL</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indent="0" marL="0">
                        <a:buNone/>
                      </a:pP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indent="0" marL="0">
                        <a:buNone/>
                      </a:pPr>
                      <a:r>
                        <a:rPr lang="en-US" sz="1000" b="1" dirty="0">
                          <a:solidFill>
                            <a:srgbClr val="0D9488"/>
                          </a:solidFill>
                          <a:latin typeface="Calibri" pitchFamily="34" charset="0"/>
                          <a:ea typeface="Calibri" pitchFamily="34" charset="-122"/>
                          <a:cs typeface="Calibri" pitchFamily="34" charset="-120"/>
                        </a:rPr>
                        <a:t>~$40–41</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c>
                  <a:txBody>
                    <a:bodyPr/>
                    <a:lstStyle/>
                    <a:p>
                      <a:pPr indent="0" marL="0">
                        <a:buNone/>
                      </a:pPr>
                      <a:r>
                        <a:rPr lang="en-US" sz="1000" b="1" dirty="0">
                          <a:solidFill>
                            <a:srgbClr val="0D9488"/>
                          </a:solidFill>
                          <a:latin typeface="Calibri" pitchFamily="34" charset="0"/>
                          <a:ea typeface="Calibri" pitchFamily="34" charset="-122"/>
                          <a:cs typeface="Calibri" pitchFamily="34" charset="-120"/>
                        </a:rPr>
                        <a:t>~₹3,824–3,919</a:t>
                      </a:r>
                      <a:endParaRPr lang="en-US" sz="10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9FF"/>
                    </a:solidFill>
                  </a:tcPr>
                </a:tc>
              </a:tr>
            </a:tbl>
          </a:graphicData>
        </a:graphic>
      </p:graphicFrame>
      <p:sp>
        <p:nvSpPr>
          <p:cNvPr id="7" name="Text 4"/>
          <p:cNvSpPr/>
          <p:nvPr/>
        </p:nvSpPr>
        <p:spPr>
          <a:xfrm>
            <a:off x="365760" y="4864608"/>
            <a:ext cx="8412480" cy="219456"/>
          </a:xfrm>
          <a:prstGeom prst="rect">
            <a:avLst/>
          </a:prstGeom>
          <a:noFill/>
          <a:ln/>
        </p:spPr>
        <p:txBody>
          <a:bodyPr wrap="square" rtlCol="0" anchor="ctr"/>
          <a:lstStyle/>
          <a:p>
            <a:pPr indent="0" marL="0">
              <a:buNone/>
            </a:pPr>
            <a:r>
              <a:rPr lang="en-US" sz="850" i="1" dirty="0">
                <a:solidFill>
                  <a:srgbClr val="64748B"/>
                </a:solidFill>
                <a:latin typeface="Calibri" pitchFamily="34" charset="0"/>
                <a:ea typeface="Calibri" pitchFamily="34" charset="-122"/>
                <a:cs typeface="Calibri" pitchFamily="34" charset="-120"/>
              </a:rPr>
              <a:t>* PostgreSQL self-managed on EC2 — included in EC2 cost. Pricing at ~₹95/USD. CloudFront free tier (1 TB/mo) covers CDN.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3560"/>
        </a:solidFill>
      </p:bgPr>
    </p:bg>
    <p:spTree>
      <p:nvGrpSpPr>
        <p:cNvPr id="1" name=""/>
        <p:cNvGrpSpPr/>
        <p:nvPr/>
      </p:nvGrpSpPr>
      <p:grpSpPr>
        <a:xfrm>
          <a:off x="0" y="0"/>
          <a:ext cx="0" cy="0"/>
          <a:chOff x="0" y="0"/>
          <a:chExt cx="0" cy="0"/>
        </a:xfrm>
      </p:grpSpPr>
      <p:sp>
        <p:nvSpPr>
          <p:cNvPr id="2" name="Text 0"/>
          <p:cNvSpPr/>
          <p:nvPr/>
        </p:nvSpPr>
        <p:spPr>
          <a:xfrm>
            <a:off x="457200" y="201168"/>
            <a:ext cx="8229600" cy="530352"/>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Risks &amp; Roadmap</a:t>
            </a:r>
            <a:endParaRPr lang="en-US" sz="3000" dirty="0"/>
          </a:p>
        </p:txBody>
      </p:sp>
      <p:sp>
        <p:nvSpPr>
          <p:cNvPr id="3" name="Shape 1"/>
          <p:cNvSpPr/>
          <p:nvPr/>
        </p:nvSpPr>
        <p:spPr>
          <a:xfrm>
            <a:off x="365760" y="914400"/>
            <a:ext cx="2651760" cy="1783080"/>
          </a:xfrm>
          <a:prstGeom prst="roundRect">
            <a:avLst>
              <a:gd name="adj" fmla="val 5128"/>
            </a:avLst>
          </a:prstGeom>
          <a:solidFill>
            <a:srgbClr val="1E3A6A"/>
          </a:solidFill>
          <a:ln/>
          <a:effectLst>
            <a:outerShdw sx="100000" sy="100000" kx="0" ky="0" algn="bl" rotWithShape="0" blurRad="101600" dist="25400" dir="2700000">
              <a:srgbClr val="000000">
                <a:alpha val="25000"/>
              </a:srgbClr>
            </a:outerShdw>
          </a:effectLst>
        </p:spPr>
      </p:sp>
      <p:sp>
        <p:nvSpPr>
          <p:cNvPr id="4" name="Shape 2"/>
          <p:cNvSpPr/>
          <p:nvPr/>
        </p:nvSpPr>
        <p:spPr>
          <a:xfrm>
            <a:off x="475488" y="1024128"/>
            <a:ext cx="457200" cy="219456"/>
          </a:xfrm>
          <a:prstGeom prst="roundRect">
            <a:avLst>
              <a:gd name="adj" fmla="val 20833"/>
            </a:avLst>
          </a:prstGeom>
          <a:solidFill>
            <a:srgbClr val="DC2626"/>
          </a:solidFill>
          <a:ln/>
        </p:spPr>
      </p:sp>
      <p:sp>
        <p:nvSpPr>
          <p:cNvPr id="5" name="Text 3"/>
          <p:cNvSpPr/>
          <p:nvPr/>
        </p:nvSpPr>
        <p:spPr>
          <a:xfrm>
            <a:off x="475488" y="1024128"/>
            <a:ext cx="45720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P0</a:t>
            </a:r>
            <a:endParaRPr lang="en-US" sz="800" dirty="0"/>
          </a:p>
        </p:txBody>
      </p:sp>
      <p:sp>
        <p:nvSpPr>
          <p:cNvPr id="6" name="Text 4"/>
          <p:cNvSpPr/>
          <p:nvPr/>
        </p:nvSpPr>
        <p:spPr>
          <a:xfrm>
            <a:off x="475488" y="1307592"/>
            <a:ext cx="2432304"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Secrets &amp; Security</a:t>
            </a:r>
            <a:endParaRPr lang="en-US" sz="1200" dirty="0"/>
          </a:p>
        </p:txBody>
      </p:sp>
      <p:sp>
        <p:nvSpPr>
          <p:cNvPr id="7" name="Text 5"/>
          <p:cNvSpPr/>
          <p:nvPr/>
        </p:nvSpPr>
        <p:spPr>
          <a:xfrm>
            <a:off x="475488" y="1645920"/>
            <a:ext cx="2432304" cy="987552"/>
          </a:xfrm>
          <a:prstGeom prst="rect">
            <a:avLst/>
          </a:prstGeom>
          <a:noFill/>
          <a:ln/>
        </p:spPr>
        <p:txBody>
          <a:bodyPr wrap="square" rtlCol="0" anchor="ctr"/>
          <a:lstStyle/>
          <a:p>
            <a:pPr indent="0" marL="0">
              <a:buNone/>
            </a:pPr>
            <a:r>
              <a:rPr lang="en-US" sz="950" dirty="0">
                <a:solidFill>
                  <a:srgbClr val="93C5FD"/>
                </a:solidFill>
                <a:latin typeface="Calibri" pitchFamily="34" charset="0"/>
                <a:ea typeface="Calibri" pitchFamily="34" charset="-122"/>
                <a:cs typeface="Calibri" pitchFamily="34" charset="-120"/>
              </a:rPr>
              <a:t>SECRET_KEY committed to git history. Flower exposed on 0.0.0.0. Move to Secrets Manager; rotate at cutover; add HTTPS headers.</a:t>
            </a:r>
            <a:endParaRPr lang="en-US" sz="950" dirty="0"/>
          </a:p>
        </p:txBody>
      </p:sp>
      <p:sp>
        <p:nvSpPr>
          <p:cNvPr id="8" name="Shape 6"/>
          <p:cNvSpPr/>
          <p:nvPr/>
        </p:nvSpPr>
        <p:spPr>
          <a:xfrm>
            <a:off x="3182112" y="914400"/>
            <a:ext cx="2651760" cy="1783080"/>
          </a:xfrm>
          <a:prstGeom prst="roundRect">
            <a:avLst>
              <a:gd name="adj" fmla="val 5128"/>
            </a:avLst>
          </a:prstGeom>
          <a:solidFill>
            <a:srgbClr val="1E3A6A"/>
          </a:solidFill>
          <a:ln/>
          <a:effectLst>
            <a:outerShdw sx="100000" sy="100000" kx="0" ky="0" algn="bl" rotWithShape="0" blurRad="101600" dist="25400" dir="2700000">
              <a:srgbClr val="000000">
                <a:alpha val="25000"/>
              </a:srgbClr>
            </a:outerShdw>
          </a:effectLst>
        </p:spPr>
      </p:sp>
      <p:sp>
        <p:nvSpPr>
          <p:cNvPr id="9" name="Shape 7"/>
          <p:cNvSpPr/>
          <p:nvPr/>
        </p:nvSpPr>
        <p:spPr>
          <a:xfrm>
            <a:off x="3291840" y="1024128"/>
            <a:ext cx="457200" cy="219456"/>
          </a:xfrm>
          <a:prstGeom prst="roundRect">
            <a:avLst>
              <a:gd name="adj" fmla="val 20833"/>
            </a:avLst>
          </a:prstGeom>
          <a:solidFill>
            <a:srgbClr val="DC2626"/>
          </a:solidFill>
          <a:ln/>
        </p:spPr>
      </p:sp>
      <p:sp>
        <p:nvSpPr>
          <p:cNvPr id="10" name="Text 8"/>
          <p:cNvSpPr/>
          <p:nvPr/>
        </p:nvSpPr>
        <p:spPr>
          <a:xfrm>
            <a:off x="3291840" y="1024128"/>
            <a:ext cx="45720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P0</a:t>
            </a:r>
            <a:endParaRPr lang="en-US" sz="800" dirty="0"/>
          </a:p>
        </p:txBody>
      </p:sp>
      <p:sp>
        <p:nvSpPr>
          <p:cNvPr id="11" name="Text 9"/>
          <p:cNvSpPr/>
          <p:nvPr/>
        </p:nvSpPr>
        <p:spPr>
          <a:xfrm>
            <a:off x="3291840" y="1307592"/>
            <a:ext cx="2432304"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No Backups</a:t>
            </a:r>
            <a:endParaRPr lang="en-US" sz="1200" dirty="0"/>
          </a:p>
        </p:txBody>
      </p:sp>
      <p:sp>
        <p:nvSpPr>
          <p:cNvPr id="12" name="Text 10"/>
          <p:cNvSpPr/>
          <p:nvPr/>
        </p:nvSpPr>
        <p:spPr>
          <a:xfrm>
            <a:off x="3291840" y="1645920"/>
            <a:ext cx="2432304" cy="987552"/>
          </a:xfrm>
          <a:prstGeom prst="rect">
            <a:avLst/>
          </a:prstGeom>
          <a:noFill/>
          <a:ln/>
        </p:spPr>
        <p:txBody>
          <a:bodyPr wrap="square" rtlCol="0" anchor="ctr"/>
          <a:lstStyle/>
          <a:p>
            <a:pPr indent="0" marL="0">
              <a:buNone/>
            </a:pPr>
            <a:r>
              <a:rPr lang="en-US" sz="950" dirty="0">
                <a:solidFill>
                  <a:srgbClr val="93C5FD"/>
                </a:solidFill>
                <a:latin typeface="Calibri" pitchFamily="34" charset="0"/>
                <a:ea typeface="Calibri" pitchFamily="34" charset="-122"/>
                <a:cs typeface="Calibri" pitchFamily="34" charset="-120"/>
              </a:rPr>
              <a:t>No pg_dump schedule; no /data snapshots. Add nightly backup + S3 sync before JP Morgan handover. RDS PITR after migration.</a:t>
            </a:r>
            <a:endParaRPr lang="en-US" sz="950" dirty="0"/>
          </a:p>
        </p:txBody>
      </p:sp>
      <p:sp>
        <p:nvSpPr>
          <p:cNvPr id="13" name="Shape 11"/>
          <p:cNvSpPr/>
          <p:nvPr/>
        </p:nvSpPr>
        <p:spPr>
          <a:xfrm>
            <a:off x="5998464" y="914400"/>
            <a:ext cx="2651760" cy="1783080"/>
          </a:xfrm>
          <a:prstGeom prst="roundRect">
            <a:avLst>
              <a:gd name="adj" fmla="val 5128"/>
            </a:avLst>
          </a:prstGeom>
          <a:solidFill>
            <a:srgbClr val="1E3A6A"/>
          </a:solidFill>
          <a:ln/>
          <a:effectLst>
            <a:outerShdw sx="100000" sy="100000" kx="0" ky="0" algn="bl" rotWithShape="0" blurRad="101600" dist="25400" dir="2700000">
              <a:srgbClr val="000000">
                <a:alpha val="25000"/>
              </a:srgbClr>
            </a:outerShdw>
          </a:effectLst>
        </p:spPr>
      </p:sp>
      <p:sp>
        <p:nvSpPr>
          <p:cNvPr id="14" name="Shape 12"/>
          <p:cNvSpPr/>
          <p:nvPr/>
        </p:nvSpPr>
        <p:spPr>
          <a:xfrm>
            <a:off x="6108192" y="1024128"/>
            <a:ext cx="457200" cy="219456"/>
          </a:xfrm>
          <a:prstGeom prst="roundRect">
            <a:avLst>
              <a:gd name="adj" fmla="val 20833"/>
            </a:avLst>
          </a:prstGeom>
          <a:solidFill>
            <a:srgbClr val="D97706"/>
          </a:solidFill>
          <a:ln/>
        </p:spPr>
      </p:sp>
      <p:sp>
        <p:nvSpPr>
          <p:cNvPr id="15" name="Text 13"/>
          <p:cNvSpPr/>
          <p:nvPr/>
        </p:nvSpPr>
        <p:spPr>
          <a:xfrm>
            <a:off x="6108192" y="1024128"/>
            <a:ext cx="45720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P1</a:t>
            </a:r>
            <a:endParaRPr lang="en-US" sz="800" dirty="0"/>
          </a:p>
        </p:txBody>
      </p:sp>
      <p:sp>
        <p:nvSpPr>
          <p:cNvPr id="16" name="Text 14"/>
          <p:cNvSpPr/>
          <p:nvPr/>
        </p:nvSpPr>
        <p:spPr>
          <a:xfrm>
            <a:off x="6108192" y="1307592"/>
            <a:ext cx="2432304"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Silent Empty Results</a:t>
            </a:r>
            <a:endParaRPr lang="en-US" sz="1200" dirty="0"/>
          </a:p>
        </p:txBody>
      </p:sp>
      <p:sp>
        <p:nvSpPr>
          <p:cNvPr id="17" name="Text 15"/>
          <p:cNvSpPr/>
          <p:nvPr/>
        </p:nvSpPr>
        <p:spPr>
          <a:xfrm>
            <a:off x="6108192" y="1645920"/>
            <a:ext cx="2432304" cy="987552"/>
          </a:xfrm>
          <a:prstGeom prst="rect">
            <a:avLst/>
          </a:prstGeom>
          <a:noFill/>
          <a:ln/>
        </p:spPr>
        <p:txBody>
          <a:bodyPr wrap="square" rtlCol="0" anchor="ctr"/>
          <a:lstStyle/>
          <a:p>
            <a:pPr indent="0" marL="0">
              <a:buNone/>
            </a:pPr>
            <a:r>
              <a:rPr lang="en-US" sz="950" dirty="0">
                <a:solidFill>
                  <a:srgbClr val="93C5FD"/>
                </a:solidFill>
                <a:latin typeface="Calibri" pitchFamily="34" charset="0"/>
                <a:ea typeface="Calibri" pitchFamily="34" charset="-122"/>
                <a:cs typeface="Calibri" pitchFamily="34" charset="-120"/>
              </a:rPr>
              <a:t>AES constants lifted from the eCourts app. An app update silently returns [] — no crash. Build a canary on get_states() + CloudWatch alert.</a:t>
            </a:r>
            <a:endParaRPr lang="en-US" sz="950" dirty="0"/>
          </a:p>
        </p:txBody>
      </p:sp>
      <p:sp>
        <p:nvSpPr>
          <p:cNvPr id="18" name="Shape 16"/>
          <p:cNvSpPr/>
          <p:nvPr/>
        </p:nvSpPr>
        <p:spPr>
          <a:xfrm>
            <a:off x="365760" y="2907792"/>
            <a:ext cx="2651760" cy="1783080"/>
          </a:xfrm>
          <a:prstGeom prst="roundRect">
            <a:avLst>
              <a:gd name="adj" fmla="val 5128"/>
            </a:avLst>
          </a:prstGeom>
          <a:solidFill>
            <a:srgbClr val="1E3A6A"/>
          </a:solidFill>
          <a:ln/>
          <a:effectLst>
            <a:outerShdw sx="100000" sy="100000" kx="0" ky="0" algn="bl" rotWithShape="0" blurRad="101600" dist="25400" dir="2700000">
              <a:srgbClr val="000000">
                <a:alpha val="25000"/>
              </a:srgbClr>
            </a:outerShdw>
          </a:effectLst>
        </p:spPr>
      </p:sp>
      <p:sp>
        <p:nvSpPr>
          <p:cNvPr id="19" name="Shape 17"/>
          <p:cNvSpPr/>
          <p:nvPr/>
        </p:nvSpPr>
        <p:spPr>
          <a:xfrm>
            <a:off x="475488" y="3017520"/>
            <a:ext cx="457200" cy="219456"/>
          </a:xfrm>
          <a:prstGeom prst="roundRect">
            <a:avLst>
              <a:gd name="adj" fmla="val 20833"/>
            </a:avLst>
          </a:prstGeom>
          <a:solidFill>
            <a:srgbClr val="D97706"/>
          </a:solidFill>
          <a:ln/>
        </p:spPr>
      </p:sp>
      <p:sp>
        <p:nvSpPr>
          <p:cNvPr id="20" name="Text 18"/>
          <p:cNvSpPr/>
          <p:nvPr/>
        </p:nvSpPr>
        <p:spPr>
          <a:xfrm>
            <a:off x="475488" y="3017520"/>
            <a:ext cx="45720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P1</a:t>
            </a:r>
            <a:endParaRPr lang="en-US" sz="800" dirty="0"/>
          </a:p>
        </p:txBody>
      </p:sp>
      <p:sp>
        <p:nvSpPr>
          <p:cNvPr id="21" name="Text 19"/>
          <p:cNvSpPr/>
          <p:nvPr/>
        </p:nvSpPr>
        <p:spPr>
          <a:xfrm>
            <a:off x="475488" y="3300984"/>
            <a:ext cx="2432304"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Error Visibility</a:t>
            </a:r>
            <a:endParaRPr lang="en-US" sz="1200" dirty="0"/>
          </a:p>
        </p:txBody>
      </p:sp>
      <p:sp>
        <p:nvSpPr>
          <p:cNvPr id="22" name="Text 20"/>
          <p:cNvSpPr/>
          <p:nvPr/>
        </p:nvSpPr>
        <p:spPr>
          <a:xfrm>
            <a:off x="475488" y="3639312"/>
            <a:ext cx="2432304" cy="987552"/>
          </a:xfrm>
          <a:prstGeom prst="rect">
            <a:avLst/>
          </a:prstGeom>
          <a:noFill/>
          <a:ln/>
        </p:spPr>
        <p:txBody>
          <a:bodyPr wrap="square" rtlCol="0" anchor="ctr"/>
          <a:lstStyle/>
          <a:p>
            <a:pPr indent="0" marL="0">
              <a:buNone/>
            </a:pPr>
            <a:r>
              <a:rPr lang="en-US" sz="950" dirty="0">
                <a:solidFill>
                  <a:srgbClr val="93C5FD"/>
                </a:solidFill>
                <a:latin typeface="Calibri" pitchFamily="34" charset="0"/>
                <a:ea typeface="Calibri" pitchFamily="34" charset="-122"/>
                <a:cs typeface="Calibri" pitchFamily="34" charset="-120"/>
              </a:rPr>
              <a:t>Bare except clauses swallow failures and return []. Distinguish failed from empty; surface per-node failures in job status.</a:t>
            </a:r>
            <a:endParaRPr lang="en-US" sz="950" dirty="0"/>
          </a:p>
        </p:txBody>
      </p:sp>
      <p:sp>
        <p:nvSpPr>
          <p:cNvPr id="23" name="Shape 21"/>
          <p:cNvSpPr/>
          <p:nvPr/>
        </p:nvSpPr>
        <p:spPr>
          <a:xfrm>
            <a:off x="3182112" y="2907792"/>
            <a:ext cx="2651760" cy="1783080"/>
          </a:xfrm>
          <a:prstGeom prst="roundRect">
            <a:avLst>
              <a:gd name="adj" fmla="val 5128"/>
            </a:avLst>
          </a:prstGeom>
          <a:solidFill>
            <a:srgbClr val="1E3A6A"/>
          </a:solidFill>
          <a:ln/>
          <a:effectLst>
            <a:outerShdw sx="100000" sy="100000" kx="0" ky="0" algn="bl" rotWithShape="0" blurRad="101600" dist="25400" dir="2700000">
              <a:srgbClr val="000000">
                <a:alpha val="25000"/>
              </a:srgbClr>
            </a:outerShdw>
          </a:effectLst>
        </p:spPr>
      </p:sp>
      <p:sp>
        <p:nvSpPr>
          <p:cNvPr id="24" name="Shape 22"/>
          <p:cNvSpPr/>
          <p:nvPr/>
        </p:nvSpPr>
        <p:spPr>
          <a:xfrm>
            <a:off x="3291840" y="3017520"/>
            <a:ext cx="457200" cy="219456"/>
          </a:xfrm>
          <a:prstGeom prst="roundRect">
            <a:avLst>
              <a:gd name="adj" fmla="val 20833"/>
            </a:avLst>
          </a:prstGeom>
          <a:solidFill>
            <a:srgbClr val="0D9488"/>
          </a:solidFill>
          <a:ln/>
        </p:spPr>
      </p:sp>
      <p:sp>
        <p:nvSpPr>
          <p:cNvPr id="25" name="Text 23"/>
          <p:cNvSpPr/>
          <p:nvPr/>
        </p:nvSpPr>
        <p:spPr>
          <a:xfrm>
            <a:off x="3291840" y="3017520"/>
            <a:ext cx="45720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P2</a:t>
            </a:r>
            <a:endParaRPr lang="en-US" sz="800" dirty="0"/>
          </a:p>
        </p:txBody>
      </p:sp>
      <p:sp>
        <p:nvSpPr>
          <p:cNvPr id="26" name="Text 24"/>
          <p:cNvSpPr/>
          <p:nvPr/>
        </p:nvSpPr>
        <p:spPr>
          <a:xfrm>
            <a:off x="3291840" y="3300984"/>
            <a:ext cx="2432304"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Volume → S3</a:t>
            </a:r>
            <a:endParaRPr lang="en-US" sz="1200" dirty="0"/>
          </a:p>
        </p:txBody>
      </p:sp>
      <p:sp>
        <p:nvSpPr>
          <p:cNvPr id="27" name="Text 25"/>
          <p:cNvSpPr/>
          <p:nvPr/>
        </p:nvSpPr>
        <p:spPr>
          <a:xfrm>
            <a:off x="3291840" y="3639312"/>
            <a:ext cx="2432304" cy="987552"/>
          </a:xfrm>
          <a:prstGeom prst="rect">
            <a:avLst/>
          </a:prstGeom>
          <a:noFill/>
          <a:ln/>
        </p:spPr>
        <p:txBody>
          <a:bodyPr wrap="square" rtlCol="0" anchor="ctr"/>
          <a:lstStyle/>
          <a:p>
            <a:pPr indent="0" marL="0">
              <a:buNone/>
            </a:pPr>
            <a:r>
              <a:rPr lang="en-US" sz="950" dirty="0">
                <a:solidFill>
                  <a:srgbClr val="93C5FD"/>
                </a:solidFill>
                <a:latin typeface="Calibri" pitchFamily="34" charset="0"/>
                <a:ea typeface="Calibri" pitchFamily="34" charset="-122"/>
                <a:cs typeface="Calibri" pitchFamily="34" charset="-120"/>
              </a:rPr>
              <a:t>Move /data JSON files to S3 (django-storages). Unlocks horizontal scaling of both web and Celery containers.</a:t>
            </a:r>
            <a:endParaRPr lang="en-US" sz="950" dirty="0"/>
          </a:p>
        </p:txBody>
      </p:sp>
      <p:sp>
        <p:nvSpPr>
          <p:cNvPr id="28" name="Shape 26"/>
          <p:cNvSpPr/>
          <p:nvPr/>
        </p:nvSpPr>
        <p:spPr>
          <a:xfrm>
            <a:off x="5998464" y="2907792"/>
            <a:ext cx="2651760" cy="1783080"/>
          </a:xfrm>
          <a:prstGeom prst="roundRect">
            <a:avLst>
              <a:gd name="adj" fmla="val 5128"/>
            </a:avLst>
          </a:prstGeom>
          <a:solidFill>
            <a:srgbClr val="1E3A6A"/>
          </a:solidFill>
          <a:ln/>
          <a:effectLst>
            <a:outerShdw sx="100000" sy="100000" kx="0" ky="0" algn="bl" rotWithShape="0" blurRad="101600" dist="25400" dir="2700000">
              <a:srgbClr val="000000">
                <a:alpha val="25000"/>
              </a:srgbClr>
            </a:outerShdw>
          </a:effectLst>
        </p:spPr>
      </p:sp>
      <p:sp>
        <p:nvSpPr>
          <p:cNvPr id="29" name="Shape 27"/>
          <p:cNvSpPr/>
          <p:nvPr/>
        </p:nvSpPr>
        <p:spPr>
          <a:xfrm>
            <a:off x="6108192" y="3017520"/>
            <a:ext cx="457200" cy="219456"/>
          </a:xfrm>
          <a:prstGeom prst="roundRect">
            <a:avLst>
              <a:gd name="adj" fmla="val 20833"/>
            </a:avLst>
          </a:prstGeom>
          <a:solidFill>
            <a:srgbClr val="16A34A"/>
          </a:solidFill>
          <a:ln/>
        </p:spPr>
      </p:sp>
      <p:sp>
        <p:nvSpPr>
          <p:cNvPr id="30" name="Text 28"/>
          <p:cNvSpPr/>
          <p:nvPr/>
        </p:nvSpPr>
        <p:spPr>
          <a:xfrm>
            <a:off x="6108192" y="3017520"/>
            <a:ext cx="457200" cy="219456"/>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P2 ✓</a:t>
            </a:r>
            <a:endParaRPr lang="en-US" sz="800" dirty="0"/>
          </a:p>
        </p:txBody>
      </p:sp>
      <p:sp>
        <p:nvSpPr>
          <p:cNvPr id="31" name="Text 29"/>
          <p:cNvSpPr/>
          <p:nvPr/>
        </p:nvSpPr>
        <p:spPr>
          <a:xfrm>
            <a:off x="6108192" y="3300984"/>
            <a:ext cx="2432304" cy="310896"/>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PDF Proxy (Done)</a:t>
            </a:r>
            <a:endParaRPr lang="en-US" sz="1200" dirty="0"/>
          </a:p>
        </p:txBody>
      </p:sp>
      <p:sp>
        <p:nvSpPr>
          <p:cNvPr id="32" name="Text 30"/>
          <p:cNvSpPr/>
          <p:nvPr/>
        </p:nvSpPr>
        <p:spPr>
          <a:xfrm>
            <a:off x="6108192" y="3639312"/>
            <a:ext cx="2432304" cy="987552"/>
          </a:xfrm>
          <a:prstGeom prst="rect">
            <a:avLst/>
          </a:prstGeom>
          <a:noFill/>
          <a:ln/>
        </p:spPr>
        <p:txBody>
          <a:bodyPr wrap="square" rtlCol="0" anchor="ctr"/>
          <a:lstStyle/>
          <a:p>
            <a:pPr indent="0" marL="0">
              <a:buNone/>
            </a:pPr>
            <a:r>
              <a:rPr lang="en-US" sz="950" dirty="0">
                <a:solidFill>
                  <a:srgbClr val="93C5FD"/>
                </a:solidFill>
                <a:latin typeface="Calibri" pitchFamily="34" charset="0"/>
                <a:ea typeface="Calibri" pitchFamily="34" charset="-122"/>
                <a:cs typeface="Calibri" pitchFamily="34" charset="-120"/>
              </a:rPr>
              <a:t>Token-only expires; document path is stable. 11 orders across 3 states (2019–2026) verified re-fetchable. Zero PDF storage cost.</a:t>
            </a:r>
            <a:endParaRPr lang="en-US" sz="950" dirty="0"/>
          </a:p>
        </p:txBody>
      </p:sp>
      <p:sp>
        <p:nvSpPr>
          <p:cNvPr id="33" name="Text 31"/>
          <p:cNvSpPr/>
          <p:nvPr/>
        </p:nvSpPr>
        <p:spPr>
          <a:xfrm>
            <a:off x="457200" y="4892040"/>
            <a:ext cx="8229600" cy="201168"/>
          </a:xfrm>
          <a:prstGeom prst="rect">
            <a:avLst/>
          </a:prstGeom>
          <a:noFill/>
          <a:ln/>
        </p:spPr>
        <p:txBody>
          <a:bodyPr wrap="square" rtlCol="0" anchor="ctr"/>
          <a:lstStyle/>
          <a:p>
            <a:pPr algn="ctr" indent="0" marL="0">
              <a:buNone/>
            </a:pPr>
            <a:r>
              <a:rPr lang="en-US" sz="850" i="1" dirty="0">
                <a:solidFill>
                  <a:srgbClr val="475569"/>
                </a:solidFill>
                <a:latin typeface="Calibri" pitchFamily="34" charset="0"/>
                <a:ea typeface="Calibri" pitchFamily="34" charset="-122"/>
                <a:cs typeface="Calibri" pitchFamily="34" charset="-120"/>
              </a:rPr>
              <a:t>enfold-web · JP Morgan Productionization Handover · All PDF proxy claims verified against the live eCourts API</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enfold-web: Legal Research Platform</dc:title>
  <dc:subject>PptxGenJS Presentation</dc:subject>
  <dc:creator>PptxGenJS</dc:creator>
  <cp:lastModifiedBy>PptxGenJS</cp:lastModifiedBy>
  <cp:revision>1</cp:revision>
  <dcterms:created xsi:type="dcterms:W3CDTF">2026-07-02T07:55:11Z</dcterms:created>
  <dcterms:modified xsi:type="dcterms:W3CDTF">2026-07-02T07:55:11Z</dcterms:modified>
</cp:coreProperties>
</file>